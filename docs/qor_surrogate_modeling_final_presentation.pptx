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293" y="-643"/>
      </p:cViewPr>
      <p:guideLst/>
    </p:cSldViewPr>
  </p:slideViewPr>
  <p:notesTextViewPr>
    <p:cViewPr>
      <p:scale>
        <a:sx n="1" d="1"/>
        <a:sy n="1" d="1"/>
      </p:scale>
      <p:origin x="0" y="-322"/>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This project asks a practical early-design question: before running complete backend physical implementation, can we estimate final ASIC quality of results well enough to make better decisions? The focus is not on replacing OpenROAD. It is on ranking, filtering, or prioritizing HLS configurations before committing expensive backend effort.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motivation is not to eliminate the backend flow. Complete OpenROAD implementation provides the labels and remains the authority for final physical design. The intended value is earlier decision support: use a predictor to rank, filter, or prioritize configurations, so expensive backend runs can be focused on the most informative or promising candidates.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complete implemented workflow. It begins from PolyBench C kernels. Lightweight static parsing extracts code-structure counts; Bambu contributes scheduling, structural, resource, and estimated-area metrics; Yosys adds synthesis structure; and OpenROAD reports provide final labels. The repository separates parsing, preprocessing, model training, and physical-effect analysis into scripts rather than hiding the process in a notebook.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dataset progression defines the scope of the evidence. The project generated 864 early Bambu HLS configurations, but only 79 had usable Yosys statistics, and 18 had complete final OpenROAD labels. The main backend subset has 17 benchmark-diverse runs at 10 nanoseconds plus one aggressive-clock run. The shrinking dataset reflects the increasing cost and complexity of moving through synthesis and backend implementation.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modeling inputs are intentionally limited to information available before final OpenROAD. This includes configuration, static source-code counts, Bambu HLS features, Yosys statistics, and ratios derived only from those features. The targets are final area and critical-path delay, with total power treated as exploratory. Post-routing descriptors are valuable for analysis, but including them in an early model would leak backend information.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Several validation settings were explored, but the reported headline evaluation is GroupKFold by benchmark. Each validation fold holds out a complete benchmark kernel. This is more demanding and more realistic than a random split, because random train and test partitions can share benchmark-specific structure. The metric is MAE normalized by the mean absolute target value. It is normalized error, not accuracy.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These are the headline results under benchmark-grouped validation. Final ASIC area is the strongest target: Elastic Net with the raw pre-</a:t>
            </a:r>
            <a:r>
              <a:rPr dirty="0" err="1"/>
              <a:t>OpenROAD</a:t>
            </a:r>
            <a:r>
              <a:rPr dirty="0"/>
              <a:t> feature matrix achieves 6,637.11 MAE and 15.34 percent NMAE. Delay is promising at 0.763 nanoseconds and 18.71 percent NMAE using derived ratios. Power has 37.70 percent NMAE using </a:t>
            </a:r>
            <a:r>
              <a:rPr dirty="0" err="1"/>
              <a:t>Yosys</a:t>
            </a:r>
            <a:r>
              <a:rPr dirty="0"/>
              <a:t>-only features, but it must remain exploratory because its distribution is skewed and clock-sensitive.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report also analyzes physical effects after implementation. Every OpenROAD run had a final DEF, route guide, and DRC report. No setup, hold, or maximum-slew violations were found, while maximum-capacitance violations totaled three. The correlation figure shows strong selected relationships between routing complexity indicators and final area, with moderate selected relationships to delay. These are explanatory observations only. They cannot be early inputs because they exist only after routing.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strongest limitation is the small labeled backend subset. That also makes fold-to-fold behavior sensitive, particularly for power. Runtime and speed-up were not systematically measured, so the project does not claim a measured acceleration. The next experiments are straightforward: add systematically sampled backend labels, use active learning or uncertainty sampling, improve static code analysis with AST or LLVM methods, and create pre-routing proxies for routing complexity.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conclude, the project delivers a complete source-to-backend workflow and establishes initial feasibility for early prediction of final area and timing. The evidence is strongest for area, promising for timing, and exploratory for power. The benchmark-grouped setup makes the result more meaningful than a random split. The key next step is not a more complicated model first; it is collecting more systematic and diverse OpenROAD-labeled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Dikdörtgen 9">
            <a:extLst>
              <a:ext uri="{FF2B5EF4-FFF2-40B4-BE49-F238E27FC236}">
                <a16:creationId xmlns:a16="http://schemas.microsoft.com/office/drawing/2014/main" id="{B270C780-C134-4ACE-A0B0-0F40A964D8A7}"/>
              </a:ext>
            </a:extLst>
          </p:cNvPr>
          <p:cNvSpPr>
            <a:spLocks noGrp="1"/>
          </p:cNvSpPr>
          <p:nvPr/>
        </p:nvSpPr>
        <p:spPr>
          <a:xfrm>
            <a:off x="0" y="0"/>
            <a:ext cx="171450" cy="6858000"/>
          </a:xfrm>
          <a:prstGeom prst="rect">
            <a:avLst/>
          </a:prstGeom>
          <a:solidFill>
            <a:srgbClr val="C62828"/>
          </a:solidFill>
          <a:ln w="0">
            <a:noFill/>
            <a:prstDash val="solid"/>
          </a:ln>
        </p:spPr>
        <p:txBody>
          <a:bodyPr/>
          <a:lstStyle/>
          <a:p>
            <a:endParaRPr lang="en-GB"/>
          </a:p>
        </p:txBody>
      </p:sp>
      <p:sp>
        <p:nvSpPr>
          <p:cNvPr id="2" name="Dikdörtgen 1">
            <a:extLst>
              <a:ext uri="{FF2B5EF4-FFF2-40B4-BE49-F238E27FC236}">
                <a16:creationId xmlns:a16="http://schemas.microsoft.com/office/drawing/2014/main" id="{37B1D113-8763-4716-AF6F-64D87FC1D810}"/>
              </a:ext>
            </a:extLst>
          </p:cNvPr>
          <p:cNvSpPr>
            <a:spLocks noGrp="1"/>
          </p:cNvSpPr>
          <p:nvPr/>
        </p:nvSpPr>
        <p:spPr>
          <a:xfrm>
            <a:off x="666750" y="723900"/>
            <a:ext cx="1285875" cy="266700"/>
          </a:xfrm>
          <a:prstGeom prst="rect">
            <a:avLst/>
          </a:prstGeom>
          <a:solidFill>
            <a:srgbClr val="C62828"/>
          </a:solidFill>
          <a:ln w="0">
            <a:noFill/>
            <a:prstDash val="solid"/>
          </a:ln>
        </p:spPr>
        <p:txBody>
          <a:bodyPr/>
          <a:lstStyle/>
          <a:p>
            <a:endParaRPr lang="en-GB"/>
          </a:p>
        </p:txBody>
      </p:sp>
      <p:sp>
        <p:nvSpPr>
          <p:cNvPr id="3" name="Dikdörtgen 2">
            <a:extLst>
              <a:ext uri="{FF2B5EF4-FFF2-40B4-BE49-F238E27FC236}">
                <a16:creationId xmlns:a16="http://schemas.microsoft.com/office/drawing/2014/main" id="{33BDB601-296F-4DD0-8FEA-0E27DD037412}"/>
              </a:ext>
            </a:extLst>
          </p:cNvPr>
          <p:cNvSpPr>
            <a:spLocks noGrp="1"/>
          </p:cNvSpPr>
          <p:nvPr/>
        </p:nvSpPr>
        <p:spPr>
          <a:xfrm>
            <a:off x="666750" y="752475"/>
            <a:ext cx="2095500" cy="209550"/>
          </a:xfrm>
          <a:prstGeom prst="rect">
            <a:avLst/>
          </a:prstGeom>
          <a:noFill/>
          <a:ln w="0">
            <a:noFill/>
            <a:prstDash val="solid"/>
          </a:ln>
        </p:spPr>
        <p:txBody>
          <a:bodyPr/>
          <a:lstStyle/>
          <a:p>
            <a:pPr>
              <a:defRPr sz="975" b="1">
                <a:solidFill>
                  <a:srgbClr val="FFFFFF"/>
                </a:solidFill>
              </a:defRPr>
            </a:pPr>
            <a:r>
              <a:rPr sz="975" b="1">
                <a:solidFill>
                  <a:srgbClr val="FFFFFF"/>
                </a:solidFill>
              </a:rPr>
              <a:t>FINAL COURSE PROJECT</a:t>
            </a:r>
          </a:p>
        </p:txBody>
      </p:sp>
      <p:sp>
        <p:nvSpPr>
          <p:cNvPr id="4" name="Dikdörtgen 3">
            <a:extLst>
              <a:ext uri="{FF2B5EF4-FFF2-40B4-BE49-F238E27FC236}">
                <a16:creationId xmlns:a16="http://schemas.microsoft.com/office/drawing/2014/main" id="{C4AD95D4-ADB8-433D-BB63-E073EE344754}"/>
              </a:ext>
            </a:extLst>
          </p:cNvPr>
          <p:cNvSpPr>
            <a:spLocks noGrp="1"/>
          </p:cNvSpPr>
          <p:nvPr/>
        </p:nvSpPr>
        <p:spPr>
          <a:xfrm>
            <a:off x="666750" y="1428750"/>
            <a:ext cx="7524750" cy="1762125"/>
          </a:xfrm>
          <a:prstGeom prst="rect">
            <a:avLst/>
          </a:prstGeom>
          <a:noFill/>
          <a:ln w="0">
            <a:noFill/>
            <a:prstDash val="solid"/>
          </a:ln>
        </p:spPr>
        <p:txBody>
          <a:bodyPr/>
          <a:lstStyle/>
          <a:p>
            <a:pPr>
              <a:defRPr sz="3450" b="1">
                <a:solidFill>
                  <a:srgbClr val="102A43"/>
                </a:solidFill>
              </a:defRPr>
            </a:pPr>
            <a:r>
              <a:rPr sz="3450" b="1">
                <a:solidFill>
                  <a:srgbClr val="102A43"/>
                </a:solidFill>
              </a:rPr>
              <a:t>QoR Surrogate Modeling</a:t>
            </a:r>
          </a:p>
          <a:p>
            <a:pPr>
              <a:defRPr sz="3450" b="1">
                <a:solidFill>
                  <a:srgbClr val="102A43"/>
                </a:solidFill>
              </a:defRPr>
            </a:pPr>
            <a:r>
              <a:rPr sz="3450" b="1">
                <a:solidFill>
                  <a:srgbClr val="102A43"/>
                </a:solidFill>
              </a:rPr>
              <a:t>for Early HLS-to-ASIC</a:t>
            </a:r>
          </a:p>
          <a:p>
            <a:pPr>
              <a:defRPr sz="3450" b="1">
                <a:solidFill>
                  <a:srgbClr val="102A43"/>
                </a:solidFill>
              </a:defRPr>
            </a:pPr>
            <a:r>
              <a:rPr sz="3450" b="1">
                <a:solidFill>
                  <a:srgbClr val="102A43"/>
                </a:solidFill>
              </a:rPr>
              <a:t>Decision Making</a:t>
            </a:r>
          </a:p>
        </p:txBody>
      </p:sp>
      <p:sp>
        <p:nvSpPr>
          <p:cNvPr id="5" name="Dikdörtgen 4">
            <a:extLst>
              <a:ext uri="{FF2B5EF4-FFF2-40B4-BE49-F238E27FC236}">
                <a16:creationId xmlns:a16="http://schemas.microsoft.com/office/drawing/2014/main" id="{87A8FB09-72C5-429E-BFF0-0A5511318CE9}"/>
              </a:ext>
            </a:extLst>
          </p:cNvPr>
          <p:cNvSpPr>
            <a:spLocks noGrp="1"/>
          </p:cNvSpPr>
          <p:nvPr/>
        </p:nvSpPr>
        <p:spPr>
          <a:xfrm>
            <a:off x="666750" y="3390900"/>
            <a:ext cx="6286500" cy="590550"/>
          </a:xfrm>
          <a:prstGeom prst="rect">
            <a:avLst/>
          </a:prstGeom>
          <a:noFill/>
          <a:ln w="0">
            <a:noFill/>
            <a:prstDash val="solid"/>
          </a:ln>
        </p:spPr>
        <p:txBody>
          <a:bodyPr/>
          <a:lstStyle/>
          <a:p>
            <a:pPr>
              <a:defRPr sz="1800" b="0">
                <a:solidFill>
                  <a:srgbClr val="52667A"/>
                </a:solidFill>
              </a:defRPr>
            </a:pPr>
            <a:r>
              <a:rPr sz="1800" b="0">
                <a:solidFill>
                  <a:srgbClr val="52667A"/>
                </a:solidFill>
              </a:rPr>
              <a:t>Can final OpenROAD QoR be estimated from information</a:t>
            </a:r>
          </a:p>
          <a:p>
            <a:pPr>
              <a:defRPr sz="1800" b="0">
                <a:solidFill>
                  <a:srgbClr val="52667A"/>
                </a:solidFill>
              </a:defRPr>
            </a:pPr>
            <a:r>
              <a:rPr sz="1800" b="0">
                <a:solidFill>
                  <a:srgbClr val="52667A"/>
                </a:solidFill>
              </a:rPr>
              <a:t>available before backend physical implementation?</a:t>
            </a:r>
          </a:p>
        </p:txBody>
      </p:sp>
      <p:sp>
        <p:nvSpPr>
          <p:cNvPr id="6" name="Dikdörtgen: Köşeleri Yuvarlatılmış 5">
            <a:extLst>
              <a:ext uri="{FF2B5EF4-FFF2-40B4-BE49-F238E27FC236}">
                <a16:creationId xmlns:a16="http://schemas.microsoft.com/office/drawing/2014/main" id="{359A860E-3BB2-4C8B-81F9-D430E8937A19}"/>
              </a:ext>
            </a:extLst>
          </p:cNvPr>
          <p:cNvSpPr>
            <a:spLocks noGrp="1"/>
          </p:cNvSpPr>
          <p:nvPr/>
        </p:nvSpPr>
        <p:spPr>
          <a:xfrm>
            <a:off x="7753350" y="1123950"/>
            <a:ext cx="3286125" cy="3333750"/>
          </a:xfrm>
          <a:prstGeom prst="roundRect">
            <a:avLst>
              <a:gd name="adj" fmla="val 5797"/>
            </a:avLst>
          </a:prstGeom>
          <a:solidFill>
            <a:srgbClr val="F3F6F8"/>
          </a:solidFill>
          <a:ln w="9525">
            <a:solidFill>
              <a:srgbClr val="D7E0E8"/>
            </a:solidFill>
            <a:prstDash val="solid"/>
          </a:ln>
        </p:spPr>
        <p:txBody>
          <a:bodyPr/>
          <a:lstStyle/>
          <a:p>
            <a:endParaRPr lang="en-GB"/>
          </a:p>
        </p:txBody>
      </p:sp>
      <p:sp>
        <p:nvSpPr>
          <p:cNvPr id="7" name="Dikdörtgen 6">
            <a:extLst>
              <a:ext uri="{FF2B5EF4-FFF2-40B4-BE49-F238E27FC236}">
                <a16:creationId xmlns:a16="http://schemas.microsoft.com/office/drawing/2014/main" id="{A524C1CB-F873-4958-9D92-02E6CA133245}"/>
              </a:ext>
            </a:extLst>
          </p:cNvPr>
          <p:cNvSpPr>
            <a:spLocks noGrp="1"/>
          </p:cNvSpPr>
          <p:nvPr/>
        </p:nvSpPr>
        <p:spPr>
          <a:xfrm>
            <a:off x="8096250" y="1733550"/>
            <a:ext cx="2571750" cy="1390650"/>
          </a:xfrm>
          <a:prstGeom prst="rect">
            <a:avLst/>
          </a:prstGeom>
          <a:noFill/>
          <a:ln w="0">
            <a:noFill/>
            <a:prstDash val="solid"/>
          </a:ln>
        </p:spPr>
        <p:txBody>
          <a:bodyPr/>
          <a:lstStyle/>
          <a:p>
            <a:pPr>
              <a:defRPr sz="2700" b="1">
                <a:solidFill>
                  <a:srgbClr val="C62828"/>
                </a:solidFill>
              </a:defRPr>
            </a:pPr>
            <a:r>
              <a:rPr sz="2700" b="1" dirty="0">
                <a:solidFill>
                  <a:srgbClr val="C62828"/>
                </a:solidFill>
              </a:rPr>
              <a:t>Early signal</a:t>
            </a:r>
          </a:p>
          <a:p>
            <a:pPr>
              <a:defRPr sz="2700" b="1">
                <a:solidFill>
                  <a:srgbClr val="C62828"/>
                </a:solidFill>
              </a:defRPr>
            </a:pPr>
            <a:r>
              <a:rPr sz="2700" b="1" dirty="0">
                <a:solidFill>
                  <a:srgbClr val="C62828"/>
                </a:solidFill>
              </a:rPr>
              <a:t>→</a:t>
            </a:r>
          </a:p>
          <a:p>
            <a:pPr>
              <a:defRPr sz="2700" b="1">
                <a:solidFill>
                  <a:srgbClr val="C62828"/>
                </a:solidFill>
              </a:defRPr>
            </a:pPr>
            <a:r>
              <a:rPr lang="tr-TR" sz="2700" b="1" dirty="0">
                <a:solidFill>
                  <a:srgbClr val="C62828"/>
                </a:solidFill>
              </a:rPr>
              <a:t>B</a:t>
            </a:r>
            <a:r>
              <a:rPr sz="2700" b="1" dirty="0" err="1">
                <a:solidFill>
                  <a:srgbClr val="C62828"/>
                </a:solidFill>
              </a:rPr>
              <a:t>ackend</a:t>
            </a:r>
            <a:r>
              <a:rPr sz="2700" b="1" dirty="0">
                <a:solidFill>
                  <a:srgbClr val="C62828"/>
                </a:solidFill>
              </a:rPr>
              <a:t> </a:t>
            </a:r>
            <a:r>
              <a:rPr sz="2700" b="1" dirty="0" err="1">
                <a:solidFill>
                  <a:srgbClr val="C62828"/>
                </a:solidFill>
              </a:rPr>
              <a:t>QoR</a:t>
            </a:r>
            <a:endParaRPr sz="2700" b="1" dirty="0">
              <a:solidFill>
                <a:srgbClr val="C62828"/>
              </a:solidFill>
            </a:endParaRPr>
          </a:p>
        </p:txBody>
      </p:sp>
      <p:sp>
        <p:nvSpPr>
          <p:cNvPr id="8" name="Dikdörtgen 7">
            <a:extLst>
              <a:ext uri="{FF2B5EF4-FFF2-40B4-BE49-F238E27FC236}">
                <a16:creationId xmlns:a16="http://schemas.microsoft.com/office/drawing/2014/main" id="{B5E62197-55B9-44BF-AFA0-4BE865B15C3D}"/>
              </a:ext>
            </a:extLst>
          </p:cNvPr>
          <p:cNvSpPr>
            <a:spLocks noGrp="1"/>
          </p:cNvSpPr>
          <p:nvPr/>
        </p:nvSpPr>
        <p:spPr>
          <a:xfrm>
            <a:off x="666750" y="5286375"/>
            <a:ext cx="6191250" cy="876300"/>
          </a:xfrm>
          <a:prstGeom prst="rect">
            <a:avLst/>
          </a:prstGeom>
          <a:noFill/>
          <a:ln w="0">
            <a:noFill/>
            <a:prstDash val="solid"/>
          </a:ln>
        </p:spPr>
        <p:txBody>
          <a:bodyPr/>
          <a:lstStyle/>
          <a:p>
            <a:pPr>
              <a:defRPr sz="1425" b="0">
                <a:solidFill>
                  <a:srgbClr val="172B4D"/>
                </a:solidFill>
              </a:defRPr>
            </a:pPr>
            <a:r>
              <a:rPr sz="1425" b="0">
                <a:solidFill>
                  <a:srgbClr val="172B4D"/>
                </a:solidFill>
              </a:rPr>
              <a:t>Berk Yonder - 10994918</a:t>
            </a:r>
          </a:p>
          <a:p>
            <a:pPr>
              <a:defRPr sz="1425" b="0">
                <a:solidFill>
                  <a:srgbClr val="172B4D"/>
                </a:solidFill>
              </a:defRPr>
            </a:pPr>
            <a:r>
              <a:rPr sz="1425" b="0">
                <a:solidFill>
                  <a:srgbClr val="172B4D"/>
                </a:solidFill>
              </a:rPr>
              <a:t>Advanced Computer Architectures</a:t>
            </a:r>
          </a:p>
          <a:p>
            <a:pPr>
              <a:defRPr sz="1425" b="0">
                <a:solidFill>
                  <a:srgbClr val="172B4D"/>
                </a:solidFill>
              </a:defRPr>
            </a:pPr>
            <a:r>
              <a:rPr sz="1425" b="0">
                <a:solidFill>
                  <a:srgbClr val="172B4D"/>
                </a:solidFill>
              </a:rPr>
              <a:t>Politecnico di Milano</a:t>
            </a:r>
          </a:p>
          <a:p>
            <a:pPr>
              <a:defRPr sz="1425" b="0">
                <a:solidFill>
                  <a:srgbClr val="172B4D"/>
                </a:solidFill>
              </a:defRPr>
            </a:pPr>
            <a:r>
              <a:rPr sz="1425" b="0">
                <a:solidFill>
                  <a:srgbClr val="172B4D"/>
                </a:solidFill>
              </a:rPr>
              <a:t>Instructor: Prof. Christian Pilato</a:t>
            </a:r>
          </a:p>
        </p:txBody>
      </p:sp>
      <p:sp>
        <p:nvSpPr>
          <p:cNvPr id="9" name="Dikdörtgen 8">
            <a:extLst>
              <a:ext uri="{FF2B5EF4-FFF2-40B4-BE49-F238E27FC236}">
                <a16:creationId xmlns:a16="http://schemas.microsoft.com/office/drawing/2014/main" id="{5DC7F819-8361-4284-9E49-4A0817C5C18B}"/>
              </a:ext>
            </a:extLst>
          </p:cNvPr>
          <p:cNvSpPr>
            <a:spLocks noGrp="1"/>
          </p:cNvSpPr>
          <p:nvPr/>
        </p:nvSpPr>
        <p:spPr>
          <a:xfrm>
            <a:off x="10382250" y="6172200"/>
            <a:ext cx="666750" cy="190500"/>
          </a:xfrm>
          <a:prstGeom prst="rect">
            <a:avLst/>
          </a:prstGeom>
          <a:noFill/>
          <a:ln w="0">
            <a:noFill/>
            <a:prstDash val="solid"/>
          </a:ln>
        </p:spPr>
        <p:txBody>
          <a:bodyPr/>
          <a:lstStyle/>
          <a:p>
            <a:pPr>
              <a:defRPr sz="900" b="0">
                <a:solidFill>
                  <a:srgbClr val="7A8795"/>
                </a:solidFill>
              </a:defRPr>
            </a:pPr>
            <a:r>
              <a:rPr sz="900" b="0">
                <a:solidFill>
                  <a:srgbClr val="7A8795"/>
                </a:solidFill>
              </a:rPr>
              <a:t>2026</a:t>
            </a:r>
          </a:p>
        </p:txBody>
      </p:sp>
    </p:spTree>
    <p:extLst>
      <p:ext uri="{BB962C8B-B14F-4D97-AF65-F5344CB8AC3E}">
        <p14:creationId xmlns:p14="http://schemas.microsoft.com/office/powerpoint/2010/main" val="575240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Dikdörtgen 18">
            <a:extLst>
              <a:ext uri="{FF2B5EF4-FFF2-40B4-BE49-F238E27FC236}">
                <a16:creationId xmlns:a16="http://schemas.microsoft.com/office/drawing/2014/main" id="{CDF02F7C-10DA-4828-B8A8-209EFD51EE32}"/>
              </a:ext>
            </a:extLst>
          </p:cNvPr>
          <p:cNvSpPr>
            <a:spLocks noGrp="1"/>
          </p:cNvSpPr>
          <p:nvPr/>
        </p:nvSpPr>
        <p:spPr>
          <a:xfrm>
            <a:off x="666750" y="400050"/>
            <a:ext cx="495300" cy="228600"/>
          </a:xfrm>
          <a:prstGeom prst="rect">
            <a:avLst/>
          </a:prstGeom>
          <a:noFill/>
          <a:ln w="0">
            <a:noFill/>
            <a:prstDash val="solid"/>
          </a:ln>
        </p:spPr>
        <p:txBody>
          <a:bodyPr/>
          <a:lstStyle/>
          <a:p>
            <a:pPr>
              <a:defRPr sz="1050" b="1">
                <a:solidFill>
                  <a:srgbClr val="C62828"/>
                </a:solidFill>
              </a:defRPr>
            </a:pPr>
            <a:r>
              <a:rPr sz="1050" b="1">
                <a:solidFill>
                  <a:srgbClr val="C62828"/>
                </a:solidFill>
              </a:rPr>
              <a:t>02</a:t>
            </a:r>
          </a:p>
        </p:txBody>
      </p:sp>
      <p:sp>
        <p:nvSpPr>
          <p:cNvPr id="2" name="Dikdörtgen 1">
            <a:extLst>
              <a:ext uri="{FF2B5EF4-FFF2-40B4-BE49-F238E27FC236}">
                <a16:creationId xmlns:a16="http://schemas.microsoft.com/office/drawing/2014/main" id="{9F6A29D9-39CB-4BCC-B1FC-B2A5CF1C658B}"/>
              </a:ext>
            </a:extLst>
          </p:cNvPr>
          <p:cNvSpPr>
            <a:spLocks noGrp="1"/>
          </p:cNvSpPr>
          <p:nvPr/>
        </p:nvSpPr>
        <p:spPr>
          <a:xfrm>
            <a:off x="666750" y="666750"/>
            <a:ext cx="10096500" cy="495300"/>
          </a:xfrm>
          <a:prstGeom prst="rect">
            <a:avLst/>
          </a:prstGeom>
          <a:noFill/>
          <a:ln w="0">
            <a:noFill/>
            <a:prstDash val="solid"/>
          </a:ln>
        </p:spPr>
        <p:txBody>
          <a:bodyPr/>
          <a:lstStyle/>
          <a:p>
            <a:pPr>
              <a:defRPr sz="2550" b="1">
                <a:solidFill>
                  <a:srgbClr val="102A43"/>
                </a:solidFill>
              </a:defRPr>
            </a:pPr>
            <a:r>
              <a:rPr sz="2550" b="1" dirty="0">
                <a:solidFill>
                  <a:srgbClr val="102A43"/>
                </a:solidFill>
              </a:rPr>
              <a:t>Motivation: </a:t>
            </a:r>
            <a:r>
              <a:rPr lang="en-GB" sz="2550" b="1" dirty="0"/>
              <a:t>reduce backend effort, not replace physical design</a:t>
            </a:r>
            <a:endParaRPr sz="2550" b="1" dirty="0">
              <a:solidFill>
                <a:srgbClr val="102A43"/>
              </a:solidFill>
            </a:endParaRPr>
          </a:p>
        </p:txBody>
      </p:sp>
      <p:sp>
        <p:nvSpPr>
          <p:cNvPr id="3" name="Dikdörtgen 2">
            <a:extLst>
              <a:ext uri="{FF2B5EF4-FFF2-40B4-BE49-F238E27FC236}">
                <a16:creationId xmlns:a16="http://schemas.microsoft.com/office/drawing/2014/main" id="{1AA08FC2-C3F5-432D-BBA8-D1BED1C79C07}"/>
              </a:ext>
            </a:extLst>
          </p:cNvPr>
          <p:cNvSpPr>
            <a:spLocks noGrp="1"/>
          </p:cNvSpPr>
          <p:nvPr/>
        </p:nvSpPr>
        <p:spPr>
          <a:xfrm>
            <a:off x="666750" y="1543050"/>
            <a:ext cx="10858500" cy="19050"/>
          </a:xfrm>
          <a:prstGeom prst="rect">
            <a:avLst/>
          </a:prstGeom>
          <a:solidFill>
            <a:srgbClr val="C62828"/>
          </a:solidFill>
          <a:ln w="0">
            <a:noFill/>
            <a:prstDash val="solid"/>
          </a:ln>
        </p:spPr>
        <p:txBody>
          <a:bodyPr/>
          <a:lstStyle/>
          <a:p>
            <a:endParaRPr lang="en-GB"/>
          </a:p>
        </p:txBody>
      </p:sp>
      <p:sp>
        <p:nvSpPr>
          <p:cNvPr id="4" name="Dikdörtgen 3">
            <a:extLst>
              <a:ext uri="{FF2B5EF4-FFF2-40B4-BE49-F238E27FC236}">
                <a16:creationId xmlns:a16="http://schemas.microsoft.com/office/drawing/2014/main" id="{D92E3042-C00D-495B-B6AF-441B65107817}"/>
              </a:ext>
            </a:extLst>
          </p:cNvPr>
          <p:cNvSpPr>
            <a:spLocks noGrp="1"/>
          </p:cNvSpPr>
          <p:nvPr/>
        </p:nvSpPr>
        <p:spPr>
          <a:xfrm>
            <a:off x="666750" y="1809750"/>
            <a:ext cx="7810500" cy="533400"/>
          </a:xfrm>
          <a:prstGeom prst="rect">
            <a:avLst/>
          </a:prstGeom>
          <a:noFill/>
          <a:ln w="0">
            <a:noFill/>
            <a:prstDash val="solid"/>
          </a:ln>
        </p:spPr>
        <p:txBody>
          <a:bodyPr/>
          <a:lstStyle/>
          <a:p>
            <a:pPr>
              <a:defRPr sz="1800" b="0">
                <a:solidFill>
                  <a:srgbClr val="172B4D"/>
                </a:solidFill>
              </a:defRPr>
            </a:pPr>
            <a:r>
              <a:rPr sz="1800" b="0" dirty="0">
                <a:solidFill>
                  <a:srgbClr val="172B4D"/>
                </a:solidFill>
              </a:rPr>
              <a:t>Design-space exploration produces many HLS configurations, while final place</a:t>
            </a:r>
            <a:r>
              <a:rPr lang="tr-TR" sz="1800" b="0" dirty="0">
                <a:solidFill>
                  <a:srgbClr val="172B4D"/>
                </a:solidFill>
              </a:rPr>
              <a:t> </a:t>
            </a:r>
            <a:r>
              <a:rPr sz="1800" b="0" dirty="0">
                <a:solidFill>
                  <a:srgbClr val="172B4D"/>
                </a:solidFill>
              </a:rPr>
              <a:t>and</a:t>
            </a:r>
            <a:r>
              <a:rPr lang="tr-TR" sz="1800" b="0" dirty="0">
                <a:solidFill>
                  <a:srgbClr val="172B4D"/>
                </a:solidFill>
              </a:rPr>
              <a:t> </a:t>
            </a:r>
            <a:r>
              <a:rPr sz="1800" b="0" dirty="0">
                <a:solidFill>
                  <a:srgbClr val="172B4D"/>
                </a:solidFill>
              </a:rPr>
              <a:t>route is the expensive stage.</a:t>
            </a:r>
          </a:p>
        </p:txBody>
      </p:sp>
      <p:sp>
        <p:nvSpPr>
          <p:cNvPr id="5" name="Dikdörtgen: Köşeleri Yuvarlatılmış 4">
            <a:extLst>
              <a:ext uri="{FF2B5EF4-FFF2-40B4-BE49-F238E27FC236}">
                <a16:creationId xmlns:a16="http://schemas.microsoft.com/office/drawing/2014/main" id="{5D75D0D8-B5D5-44F6-94E3-CD0A25D71F12}"/>
              </a:ext>
            </a:extLst>
          </p:cNvPr>
          <p:cNvSpPr>
            <a:spLocks noGrp="1"/>
          </p:cNvSpPr>
          <p:nvPr/>
        </p:nvSpPr>
        <p:spPr>
          <a:xfrm>
            <a:off x="666750" y="2809875"/>
            <a:ext cx="4572000" cy="2286000"/>
          </a:xfrm>
          <a:prstGeom prst="roundRect">
            <a:avLst>
              <a:gd name="adj" fmla="val 6667"/>
            </a:avLst>
          </a:prstGeom>
          <a:solidFill>
            <a:srgbClr val="F3F6F8"/>
          </a:solidFill>
          <a:ln w="9525">
            <a:solidFill>
              <a:srgbClr val="D7E0E8"/>
            </a:solidFill>
            <a:prstDash val="solid"/>
          </a:ln>
        </p:spPr>
        <p:txBody>
          <a:bodyPr/>
          <a:lstStyle/>
          <a:p>
            <a:endParaRPr lang="en-GB"/>
          </a:p>
        </p:txBody>
      </p:sp>
      <p:sp>
        <p:nvSpPr>
          <p:cNvPr id="6" name="Dikdörtgen 5">
            <a:extLst>
              <a:ext uri="{FF2B5EF4-FFF2-40B4-BE49-F238E27FC236}">
                <a16:creationId xmlns:a16="http://schemas.microsoft.com/office/drawing/2014/main" id="{98C18758-DE9F-435B-A7F5-45C7CE750D35}"/>
              </a:ext>
            </a:extLst>
          </p:cNvPr>
          <p:cNvSpPr>
            <a:spLocks noGrp="1"/>
          </p:cNvSpPr>
          <p:nvPr/>
        </p:nvSpPr>
        <p:spPr>
          <a:xfrm>
            <a:off x="952500" y="3095625"/>
            <a:ext cx="1238250" cy="285750"/>
          </a:xfrm>
          <a:prstGeom prst="rect">
            <a:avLst/>
          </a:prstGeom>
          <a:noFill/>
          <a:ln w="0">
            <a:noFill/>
            <a:prstDash val="solid"/>
          </a:ln>
        </p:spPr>
        <p:txBody>
          <a:bodyPr/>
          <a:lstStyle/>
          <a:p>
            <a:pPr>
              <a:defRPr sz="1350" b="1">
                <a:solidFill>
                  <a:srgbClr val="C62828"/>
                </a:solidFill>
              </a:defRPr>
            </a:pPr>
            <a:r>
              <a:rPr sz="1350" b="1">
                <a:solidFill>
                  <a:srgbClr val="C62828"/>
                </a:solidFill>
              </a:rPr>
              <a:t>Question</a:t>
            </a:r>
          </a:p>
        </p:txBody>
      </p:sp>
      <p:sp>
        <p:nvSpPr>
          <p:cNvPr id="7" name="Dikdörtgen 6">
            <a:extLst>
              <a:ext uri="{FF2B5EF4-FFF2-40B4-BE49-F238E27FC236}">
                <a16:creationId xmlns:a16="http://schemas.microsoft.com/office/drawing/2014/main" id="{7DD96A44-4A07-4345-BA52-E19AC90904FA}"/>
              </a:ext>
            </a:extLst>
          </p:cNvPr>
          <p:cNvSpPr>
            <a:spLocks noGrp="1"/>
          </p:cNvSpPr>
          <p:nvPr/>
        </p:nvSpPr>
        <p:spPr>
          <a:xfrm>
            <a:off x="952500" y="3476625"/>
            <a:ext cx="3810000" cy="1000125"/>
          </a:xfrm>
          <a:prstGeom prst="rect">
            <a:avLst/>
          </a:prstGeom>
          <a:noFill/>
          <a:ln w="0">
            <a:noFill/>
            <a:prstDash val="solid"/>
          </a:ln>
        </p:spPr>
        <p:txBody>
          <a:bodyPr/>
          <a:lstStyle/>
          <a:p>
            <a:pPr>
              <a:defRPr sz="1575" b="1">
                <a:solidFill>
                  <a:srgbClr val="102A43"/>
                </a:solidFill>
              </a:defRPr>
            </a:pPr>
            <a:r>
              <a:rPr sz="1575" b="1" dirty="0">
                <a:solidFill>
                  <a:srgbClr val="102A43"/>
                </a:solidFill>
              </a:rPr>
              <a:t>Can early features predict</a:t>
            </a:r>
          </a:p>
          <a:p>
            <a:pPr>
              <a:defRPr sz="1575" b="1">
                <a:solidFill>
                  <a:srgbClr val="102A43"/>
                </a:solidFill>
              </a:defRPr>
            </a:pPr>
            <a:r>
              <a:rPr sz="1575" b="1" dirty="0">
                <a:solidFill>
                  <a:srgbClr val="102A43"/>
                </a:solidFill>
              </a:rPr>
              <a:t>final area and timing well enough</a:t>
            </a:r>
          </a:p>
          <a:p>
            <a:pPr>
              <a:defRPr sz="1575" b="1">
                <a:solidFill>
                  <a:srgbClr val="102A43"/>
                </a:solidFill>
              </a:defRPr>
            </a:pPr>
            <a:r>
              <a:rPr sz="1575" b="1" dirty="0">
                <a:solidFill>
                  <a:srgbClr val="102A43"/>
                </a:solidFill>
              </a:rPr>
              <a:t>to choose backend candidates?</a:t>
            </a:r>
          </a:p>
        </p:txBody>
      </p:sp>
      <p:sp>
        <p:nvSpPr>
          <p:cNvPr id="8" name="Dikdörtgen: Köşeleri Yuvarlatılmış 7">
            <a:extLst>
              <a:ext uri="{FF2B5EF4-FFF2-40B4-BE49-F238E27FC236}">
                <a16:creationId xmlns:a16="http://schemas.microsoft.com/office/drawing/2014/main" id="{3EDD1FF3-B058-4F89-BBFF-FED316ADB146}"/>
              </a:ext>
            </a:extLst>
          </p:cNvPr>
          <p:cNvSpPr>
            <a:spLocks noGrp="1"/>
          </p:cNvSpPr>
          <p:nvPr/>
        </p:nvSpPr>
        <p:spPr>
          <a:xfrm>
            <a:off x="5905500" y="2809875"/>
            <a:ext cx="4953000" cy="2286000"/>
          </a:xfrm>
          <a:prstGeom prst="roundRect">
            <a:avLst>
              <a:gd name="adj" fmla="val 6667"/>
            </a:avLst>
          </a:prstGeom>
          <a:solidFill>
            <a:srgbClr val="FFFFFF"/>
          </a:solidFill>
          <a:ln w="9525">
            <a:solidFill>
              <a:srgbClr val="D7E0E8"/>
            </a:solidFill>
            <a:prstDash val="solid"/>
          </a:ln>
        </p:spPr>
        <p:txBody>
          <a:bodyPr/>
          <a:lstStyle/>
          <a:p>
            <a:endParaRPr lang="en-GB"/>
          </a:p>
        </p:txBody>
      </p:sp>
      <p:sp>
        <p:nvSpPr>
          <p:cNvPr id="9" name="Dikdörtgen 8">
            <a:extLst>
              <a:ext uri="{FF2B5EF4-FFF2-40B4-BE49-F238E27FC236}">
                <a16:creationId xmlns:a16="http://schemas.microsoft.com/office/drawing/2014/main" id="{2096B16B-6006-4C19-8423-2A42996F2B3A}"/>
              </a:ext>
            </a:extLst>
          </p:cNvPr>
          <p:cNvSpPr>
            <a:spLocks noGrp="1"/>
          </p:cNvSpPr>
          <p:nvPr/>
        </p:nvSpPr>
        <p:spPr>
          <a:xfrm>
            <a:off x="6191250" y="3095625"/>
            <a:ext cx="1524000" cy="285750"/>
          </a:xfrm>
          <a:prstGeom prst="rect">
            <a:avLst/>
          </a:prstGeom>
          <a:noFill/>
          <a:ln w="0">
            <a:noFill/>
            <a:prstDash val="solid"/>
          </a:ln>
        </p:spPr>
        <p:txBody>
          <a:bodyPr/>
          <a:lstStyle/>
          <a:p>
            <a:pPr>
              <a:defRPr sz="1350" b="1">
                <a:solidFill>
                  <a:srgbClr val="C62828"/>
                </a:solidFill>
              </a:defRPr>
            </a:pPr>
            <a:r>
              <a:rPr sz="1350" b="1">
                <a:solidFill>
                  <a:srgbClr val="C62828"/>
                </a:solidFill>
              </a:rPr>
              <a:t>Intended use</a:t>
            </a:r>
          </a:p>
        </p:txBody>
      </p:sp>
      <p:sp>
        <p:nvSpPr>
          <p:cNvPr id="10" name="Dikdörtgen 9">
            <a:extLst>
              <a:ext uri="{FF2B5EF4-FFF2-40B4-BE49-F238E27FC236}">
                <a16:creationId xmlns:a16="http://schemas.microsoft.com/office/drawing/2014/main" id="{66BFE224-606C-42AF-BADE-D7F6E7FE6CC4}"/>
              </a:ext>
            </a:extLst>
          </p:cNvPr>
          <p:cNvSpPr>
            <a:spLocks noGrp="1"/>
          </p:cNvSpPr>
          <p:nvPr/>
        </p:nvSpPr>
        <p:spPr>
          <a:xfrm>
            <a:off x="6191250" y="3524250"/>
            <a:ext cx="171450" cy="285750"/>
          </a:xfrm>
          <a:prstGeom prst="rect">
            <a:avLst/>
          </a:prstGeom>
          <a:noFill/>
          <a:ln w="0">
            <a:noFill/>
            <a:prstDash val="solid"/>
          </a:ln>
        </p:spPr>
        <p:txBody>
          <a:bodyPr/>
          <a:lstStyle/>
          <a:p>
            <a:pPr>
              <a:defRPr sz="1575" b="1">
                <a:solidFill>
                  <a:srgbClr val="C62828"/>
                </a:solidFill>
              </a:defRPr>
            </a:pPr>
            <a:r>
              <a:rPr sz="1575" b="1">
                <a:solidFill>
                  <a:srgbClr val="C62828"/>
                </a:solidFill>
              </a:rPr>
              <a:t>•</a:t>
            </a:r>
          </a:p>
        </p:txBody>
      </p:sp>
      <p:sp>
        <p:nvSpPr>
          <p:cNvPr id="11" name="Dikdörtgen 10">
            <a:extLst>
              <a:ext uri="{FF2B5EF4-FFF2-40B4-BE49-F238E27FC236}">
                <a16:creationId xmlns:a16="http://schemas.microsoft.com/office/drawing/2014/main" id="{BEFC35E2-C946-4085-8E63-C9BFAFA4979B}"/>
              </a:ext>
            </a:extLst>
          </p:cNvPr>
          <p:cNvSpPr>
            <a:spLocks noGrp="1"/>
          </p:cNvSpPr>
          <p:nvPr/>
        </p:nvSpPr>
        <p:spPr>
          <a:xfrm>
            <a:off x="6419850" y="3524250"/>
            <a:ext cx="3581400" cy="342900"/>
          </a:xfrm>
          <a:prstGeom prst="rect">
            <a:avLst/>
          </a:prstGeom>
          <a:noFill/>
          <a:ln w="0">
            <a:noFill/>
            <a:prstDash val="solid"/>
          </a:ln>
        </p:spPr>
        <p:txBody>
          <a:bodyPr/>
          <a:lstStyle/>
          <a:p>
            <a:pPr>
              <a:defRPr sz="1575" b="0">
                <a:solidFill>
                  <a:srgbClr val="172B4D"/>
                </a:solidFill>
              </a:defRPr>
            </a:pPr>
            <a:r>
              <a:rPr sz="1575" b="0">
                <a:solidFill>
                  <a:srgbClr val="172B4D"/>
                </a:solidFill>
              </a:rPr>
              <a:t>rank candidate configurations</a:t>
            </a:r>
          </a:p>
        </p:txBody>
      </p:sp>
      <p:sp>
        <p:nvSpPr>
          <p:cNvPr id="12" name="Dikdörtgen 11">
            <a:extLst>
              <a:ext uri="{FF2B5EF4-FFF2-40B4-BE49-F238E27FC236}">
                <a16:creationId xmlns:a16="http://schemas.microsoft.com/office/drawing/2014/main" id="{D2792C50-9FCB-4E95-A10D-C5D5BAD18E86}"/>
              </a:ext>
            </a:extLst>
          </p:cNvPr>
          <p:cNvSpPr>
            <a:spLocks noGrp="1"/>
          </p:cNvSpPr>
          <p:nvPr/>
        </p:nvSpPr>
        <p:spPr>
          <a:xfrm>
            <a:off x="6191250" y="3952875"/>
            <a:ext cx="171450" cy="285750"/>
          </a:xfrm>
          <a:prstGeom prst="rect">
            <a:avLst/>
          </a:prstGeom>
          <a:noFill/>
          <a:ln w="0">
            <a:noFill/>
            <a:prstDash val="solid"/>
          </a:ln>
        </p:spPr>
        <p:txBody>
          <a:bodyPr/>
          <a:lstStyle/>
          <a:p>
            <a:pPr>
              <a:defRPr sz="1575" b="1">
                <a:solidFill>
                  <a:srgbClr val="C62828"/>
                </a:solidFill>
              </a:defRPr>
            </a:pPr>
            <a:r>
              <a:rPr sz="1575" b="1">
                <a:solidFill>
                  <a:srgbClr val="C62828"/>
                </a:solidFill>
              </a:rPr>
              <a:t>•</a:t>
            </a:r>
          </a:p>
        </p:txBody>
      </p:sp>
      <p:sp>
        <p:nvSpPr>
          <p:cNvPr id="13" name="Dikdörtgen 12">
            <a:extLst>
              <a:ext uri="{FF2B5EF4-FFF2-40B4-BE49-F238E27FC236}">
                <a16:creationId xmlns:a16="http://schemas.microsoft.com/office/drawing/2014/main" id="{4A5C6F3A-AF22-4A5A-84C5-9EE68B2985B7}"/>
              </a:ext>
            </a:extLst>
          </p:cNvPr>
          <p:cNvSpPr>
            <a:spLocks noGrp="1"/>
          </p:cNvSpPr>
          <p:nvPr/>
        </p:nvSpPr>
        <p:spPr>
          <a:xfrm>
            <a:off x="6419850" y="3952875"/>
            <a:ext cx="3581400" cy="342900"/>
          </a:xfrm>
          <a:prstGeom prst="rect">
            <a:avLst/>
          </a:prstGeom>
          <a:noFill/>
          <a:ln w="0">
            <a:noFill/>
            <a:prstDash val="solid"/>
          </a:ln>
        </p:spPr>
        <p:txBody>
          <a:bodyPr/>
          <a:lstStyle/>
          <a:p>
            <a:pPr>
              <a:defRPr sz="1575" b="0">
                <a:solidFill>
                  <a:srgbClr val="172B4D"/>
                </a:solidFill>
              </a:defRPr>
            </a:pPr>
            <a:r>
              <a:rPr sz="1575" b="0">
                <a:solidFill>
                  <a:srgbClr val="172B4D"/>
                </a:solidFill>
              </a:rPr>
              <a:t>filter weak options early</a:t>
            </a:r>
          </a:p>
        </p:txBody>
      </p:sp>
      <p:sp>
        <p:nvSpPr>
          <p:cNvPr id="14" name="Dikdörtgen 13">
            <a:extLst>
              <a:ext uri="{FF2B5EF4-FFF2-40B4-BE49-F238E27FC236}">
                <a16:creationId xmlns:a16="http://schemas.microsoft.com/office/drawing/2014/main" id="{6F29B8B4-83BC-4C4E-AF59-06AB5D2BD8BC}"/>
              </a:ext>
            </a:extLst>
          </p:cNvPr>
          <p:cNvSpPr>
            <a:spLocks noGrp="1"/>
          </p:cNvSpPr>
          <p:nvPr/>
        </p:nvSpPr>
        <p:spPr>
          <a:xfrm>
            <a:off x="6191250" y="4381500"/>
            <a:ext cx="171450" cy="285750"/>
          </a:xfrm>
          <a:prstGeom prst="rect">
            <a:avLst/>
          </a:prstGeom>
          <a:noFill/>
          <a:ln w="0">
            <a:noFill/>
            <a:prstDash val="solid"/>
          </a:ln>
        </p:spPr>
        <p:txBody>
          <a:bodyPr/>
          <a:lstStyle/>
          <a:p>
            <a:pPr>
              <a:defRPr sz="1575" b="1">
                <a:solidFill>
                  <a:srgbClr val="C62828"/>
                </a:solidFill>
              </a:defRPr>
            </a:pPr>
            <a:r>
              <a:rPr sz="1575" b="1">
                <a:solidFill>
                  <a:srgbClr val="C62828"/>
                </a:solidFill>
              </a:rPr>
              <a:t>•</a:t>
            </a:r>
          </a:p>
        </p:txBody>
      </p:sp>
      <p:sp>
        <p:nvSpPr>
          <p:cNvPr id="15" name="Dikdörtgen 14">
            <a:extLst>
              <a:ext uri="{FF2B5EF4-FFF2-40B4-BE49-F238E27FC236}">
                <a16:creationId xmlns:a16="http://schemas.microsoft.com/office/drawing/2014/main" id="{DDD760AD-88FC-4010-A5CE-1652E15D8295}"/>
              </a:ext>
            </a:extLst>
          </p:cNvPr>
          <p:cNvSpPr>
            <a:spLocks noGrp="1"/>
          </p:cNvSpPr>
          <p:nvPr/>
        </p:nvSpPr>
        <p:spPr>
          <a:xfrm>
            <a:off x="6419850" y="4381500"/>
            <a:ext cx="3581400" cy="342900"/>
          </a:xfrm>
          <a:prstGeom prst="rect">
            <a:avLst/>
          </a:prstGeom>
          <a:noFill/>
          <a:ln w="0">
            <a:noFill/>
            <a:prstDash val="solid"/>
          </a:ln>
        </p:spPr>
        <p:txBody>
          <a:bodyPr/>
          <a:lstStyle/>
          <a:p>
            <a:pPr>
              <a:defRPr sz="1575" b="0">
                <a:solidFill>
                  <a:srgbClr val="172B4D"/>
                </a:solidFill>
              </a:defRPr>
            </a:pPr>
            <a:r>
              <a:rPr sz="1575" b="0">
                <a:solidFill>
                  <a:srgbClr val="172B4D"/>
                </a:solidFill>
              </a:rPr>
              <a:t>prioritize backend runs</a:t>
            </a:r>
          </a:p>
        </p:txBody>
      </p:sp>
      <p:sp>
        <p:nvSpPr>
          <p:cNvPr id="16" name="Dikdörtgen 15">
            <a:extLst>
              <a:ext uri="{FF2B5EF4-FFF2-40B4-BE49-F238E27FC236}">
                <a16:creationId xmlns:a16="http://schemas.microsoft.com/office/drawing/2014/main" id="{100B1900-09C0-4122-B0C8-AB02934FBA60}"/>
              </a:ext>
            </a:extLst>
          </p:cNvPr>
          <p:cNvSpPr>
            <a:spLocks noGrp="1"/>
          </p:cNvSpPr>
          <p:nvPr/>
        </p:nvSpPr>
        <p:spPr>
          <a:xfrm>
            <a:off x="666750" y="5524500"/>
            <a:ext cx="10001250" cy="361950"/>
          </a:xfrm>
          <a:prstGeom prst="rect">
            <a:avLst/>
          </a:prstGeom>
          <a:noFill/>
          <a:ln w="0">
            <a:noFill/>
            <a:prstDash val="solid"/>
          </a:ln>
        </p:spPr>
        <p:txBody>
          <a:bodyPr/>
          <a:lstStyle/>
          <a:p>
            <a:pPr>
              <a:defRPr sz="1650" b="1">
                <a:solidFill>
                  <a:srgbClr val="0E7C66"/>
                </a:solidFill>
              </a:defRPr>
            </a:pPr>
            <a:r>
              <a:rPr sz="1650" b="1" dirty="0">
                <a:solidFill>
                  <a:srgbClr val="0E7C66"/>
                </a:solidFill>
              </a:rPr>
              <a:t>Surrogate = </a:t>
            </a:r>
            <a:r>
              <a:rPr lang="tr-TR" sz="1650" b="1" dirty="0">
                <a:solidFill>
                  <a:srgbClr val="0E7C66"/>
                </a:solidFill>
              </a:rPr>
              <a:t>D</a:t>
            </a:r>
            <a:r>
              <a:rPr sz="1650" b="1" dirty="0" err="1">
                <a:solidFill>
                  <a:srgbClr val="0E7C66"/>
                </a:solidFill>
              </a:rPr>
              <a:t>ecision</a:t>
            </a:r>
            <a:r>
              <a:rPr sz="1650" b="1" dirty="0">
                <a:solidFill>
                  <a:srgbClr val="0E7C66"/>
                </a:solidFill>
              </a:rPr>
              <a:t> support. </a:t>
            </a:r>
            <a:r>
              <a:rPr sz="1650" b="1" dirty="0" err="1">
                <a:solidFill>
                  <a:srgbClr val="0E7C66"/>
                </a:solidFill>
              </a:rPr>
              <a:t>OpenROAD</a:t>
            </a:r>
            <a:r>
              <a:rPr sz="1650" b="1" dirty="0">
                <a:solidFill>
                  <a:srgbClr val="0E7C66"/>
                </a:solidFill>
              </a:rPr>
              <a:t> remains the final physical-design authority.</a:t>
            </a:r>
          </a:p>
        </p:txBody>
      </p:sp>
      <p:sp>
        <p:nvSpPr>
          <p:cNvPr id="17" name="Dikdörtgen 16">
            <a:extLst>
              <a:ext uri="{FF2B5EF4-FFF2-40B4-BE49-F238E27FC236}">
                <a16:creationId xmlns:a16="http://schemas.microsoft.com/office/drawing/2014/main" id="{801A7B4F-AB25-48B6-B42B-DE92D14FB9E1}"/>
              </a:ext>
            </a:extLst>
          </p:cNvPr>
          <p:cNvSpPr>
            <a:spLocks noGrp="1"/>
          </p:cNvSpPr>
          <p:nvPr/>
        </p:nvSpPr>
        <p:spPr>
          <a:xfrm>
            <a:off x="666750" y="6477000"/>
            <a:ext cx="7143750" cy="171450"/>
          </a:xfrm>
          <a:prstGeom prst="rect">
            <a:avLst/>
          </a:prstGeom>
          <a:noFill/>
          <a:ln w="0">
            <a:noFill/>
            <a:prstDash val="solid"/>
          </a:ln>
        </p:spPr>
        <p:txBody>
          <a:bodyPr/>
          <a:lstStyle/>
          <a:p>
            <a:pPr>
              <a:defRPr sz="825" b="0">
                <a:solidFill>
                  <a:srgbClr val="7A8795"/>
                </a:solidFill>
              </a:defRPr>
            </a:pPr>
            <a:r>
              <a:rPr sz="825" b="0">
                <a:solidFill>
                  <a:srgbClr val="7A8795"/>
                </a:solidFill>
              </a:rPr>
              <a:t>Advanced Computer Architectures | Politecnico di Milano</a:t>
            </a:r>
          </a:p>
        </p:txBody>
      </p:sp>
      <p:sp>
        <p:nvSpPr>
          <p:cNvPr id="18" name="Dikdörtgen 17">
            <a:extLst>
              <a:ext uri="{FF2B5EF4-FFF2-40B4-BE49-F238E27FC236}">
                <a16:creationId xmlns:a16="http://schemas.microsoft.com/office/drawing/2014/main" id="{6FE608E1-B8A7-41FF-A3DE-FFDCDEAB2AEB}"/>
              </a:ext>
            </a:extLst>
          </p:cNvPr>
          <p:cNvSpPr>
            <a:spLocks noGrp="1"/>
          </p:cNvSpPr>
          <p:nvPr/>
        </p:nvSpPr>
        <p:spPr>
          <a:xfrm>
            <a:off x="10782300" y="6477000"/>
            <a:ext cx="742950" cy="171450"/>
          </a:xfrm>
          <a:prstGeom prst="rect">
            <a:avLst/>
          </a:prstGeom>
          <a:noFill/>
          <a:ln w="0">
            <a:noFill/>
            <a:prstDash val="solid"/>
          </a:ln>
        </p:spPr>
        <p:txBody>
          <a:bodyPr/>
          <a:lstStyle/>
          <a:p>
            <a:pPr>
              <a:defRPr sz="825" b="0">
                <a:solidFill>
                  <a:srgbClr val="7A8795"/>
                </a:solidFill>
              </a:defRPr>
            </a:pPr>
            <a:r>
              <a:rPr sz="825" b="0">
                <a:solidFill>
                  <a:srgbClr val="7A8795"/>
                </a:solidFill>
              </a:rPr>
              <a:t>2 / 10</a:t>
            </a:r>
          </a:p>
        </p:txBody>
      </p:sp>
    </p:spTree>
    <p:extLst>
      <p:ext uri="{BB962C8B-B14F-4D97-AF65-F5344CB8AC3E}">
        <p14:creationId xmlns:p14="http://schemas.microsoft.com/office/powerpoint/2010/main" val="912575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Dikdörtgen 27">
            <a:extLst>
              <a:ext uri="{FF2B5EF4-FFF2-40B4-BE49-F238E27FC236}">
                <a16:creationId xmlns:a16="http://schemas.microsoft.com/office/drawing/2014/main" id="{4586F99E-B05A-46AE-A812-8F4FD9677A27}"/>
              </a:ext>
            </a:extLst>
          </p:cNvPr>
          <p:cNvSpPr>
            <a:spLocks noGrp="1"/>
          </p:cNvSpPr>
          <p:nvPr/>
        </p:nvSpPr>
        <p:spPr>
          <a:xfrm>
            <a:off x="666750" y="400050"/>
            <a:ext cx="495300" cy="228600"/>
          </a:xfrm>
          <a:prstGeom prst="rect">
            <a:avLst/>
          </a:prstGeom>
          <a:noFill/>
          <a:ln w="0">
            <a:noFill/>
            <a:prstDash val="solid"/>
          </a:ln>
        </p:spPr>
        <p:txBody>
          <a:bodyPr/>
          <a:lstStyle/>
          <a:p>
            <a:pPr>
              <a:defRPr sz="1050" b="1">
                <a:solidFill>
                  <a:srgbClr val="C62828"/>
                </a:solidFill>
              </a:defRPr>
            </a:pPr>
            <a:r>
              <a:rPr sz="1050" b="1">
                <a:solidFill>
                  <a:srgbClr val="C62828"/>
                </a:solidFill>
              </a:rPr>
              <a:t>03</a:t>
            </a:r>
          </a:p>
        </p:txBody>
      </p:sp>
      <p:sp>
        <p:nvSpPr>
          <p:cNvPr id="2" name="Dikdörtgen 1">
            <a:extLst>
              <a:ext uri="{FF2B5EF4-FFF2-40B4-BE49-F238E27FC236}">
                <a16:creationId xmlns:a16="http://schemas.microsoft.com/office/drawing/2014/main" id="{8E2B2AF2-2AAC-4CFE-932B-735EF5C40FAA}"/>
              </a:ext>
            </a:extLst>
          </p:cNvPr>
          <p:cNvSpPr>
            <a:spLocks noGrp="1"/>
          </p:cNvSpPr>
          <p:nvPr/>
        </p:nvSpPr>
        <p:spPr>
          <a:xfrm>
            <a:off x="666750" y="666750"/>
            <a:ext cx="10096500" cy="495300"/>
          </a:xfrm>
          <a:prstGeom prst="rect">
            <a:avLst/>
          </a:prstGeom>
          <a:noFill/>
          <a:ln w="0">
            <a:noFill/>
            <a:prstDash val="solid"/>
          </a:ln>
        </p:spPr>
        <p:txBody>
          <a:bodyPr/>
          <a:lstStyle/>
          <a:p>
            <a:pPr>
              <a:defRPr sz="2550" b="1">
                <a:solidFill>
                  <a:srgbClr val="102A43"/>
                </a:solidFill>
              </a:defRPr>
            </a:pPr>
            <a:r>
              <a:rPr sz="2550" b="1">
                <a:solidFill>
                  <a:srgbClr val="102A43"/>
                </a:solidFill>
              </a:rPr>
              <a:t>Implemented source-to-backend workflow</a:t>
            </a:r>
          </a:p>
        </p:txBody>
      </p:sp>
      <p:sp>
        <p:nvSpPr>
          <p:cNvPr id="3" name="Dikdörtgen 2">
            <a:extLst>
              <a:ext uri="{FF2B5EF4-FFF2-40B4-BE49-F238E27FC236}">
                <a16:creationId xmlns:a16="http://schemas.microsoft.com/office/drawing/2014/main" id="{988CF72E-089F-4A88-82CA-05CA76E22C28}"/>
              </a:ext>
            </a:extLst>
          </p:cNvPr>
          <p:cNvSpPr>
            <a:spLocks noGrp="1"/>
          </p:cNvSpPr>
          <p:nvPr/>
        </p:nvSpPr>
        <p:spPr>
          <a:xfrm>
            <a:off x="666750" y="1181100"/>
            <a:ext cx="10096500" cy="266700"/>
          </a:xfrm>
          <a:prstGeom prst="rect">
            <a:avLst/>
          </a:prstGeom>
          <a:noFill/>
          <a:ln w="0">
            <a:noFill/>
            <a:prstDash val="solid"/>
          </a:ln>
        </p:spPr>
        <p:txBody>
          <a:bodyPr/>
          <a:lstStyle/>
          <a:p>
            <a:pPr>
              <a:defRPr sz="1275" b="0">
                <a:solidFill>
                  <a:srgbClr val="52667A"/>
                </a:solidFill>
              </a:defRPr>
            </a:pPr>
            <a:r>
              <a:rPr sz="1275" b="0">
                <a:solidFill>
                  <a:srgbClr val="52667A"/>
                </a:solidFill>
              </a:rPr>
              <a:t>Parsing and modeling stages are implemented as Python scripts in the repository.</a:t>
            </a:r>
          </a:p>
        </p:txBody>
      </p:sp>
      <p:sp>
        <p:nvSpPr>
          <p:cNvPr id="4" name="Dikdörtgen 3">
            <a:extLst>
              <a:ext uri="{FF2B5EF4-FFF2-40B4-BE49-F238E27FC236}">
                <a16:creationId xmlns:a16="http://schemas.microsoft.com/office/drawing/2014/main" id="{B901C997-C3F2-465C-A29B-97CDD37E66CD}"/>
              </a:ext>
            </a:extLst>
          </p:cNvPr>
          <p:cNvSpPr>
            <a:spLocks noGrp="1"/>
          </p:cNvSpPr>
          <p:nvPr/>
        </p:nvSpPr>
        <p:spPr>
          <a:xfrm>
            <a:off x="666750" y="1543050"/>
            <a:ext cx="10858500" cy="19050"/>
          </a:xfrm>
          <a:prstGeom prst="rect">
            <a:avLst/>
          </a:prstGeom>
          <a:solidFill>
            <a:srgbClr val="C62828"/>
          </a:solidFill>
          <a:ln w="0">
            <a:noFill/>
            <a:prstDash val="solid"/>
          </a:ln>
        </p:spPr>
        <p:txBody>
          <a:bodyPr/>
          <a:lstStyle/>
          <a:p>
            <a:endParaRPr lang="en-GB"/>
          </a:p>
        </p:txBody>
      </p:sp>
      <p:sp>
        <p:nvSpPr>
          <p:cNvPr id="5" name="Dikdörtgen: Köşeleri Yuvarlatılmış 4">
            <a:extLst>
              <a:ext uri="{FF2B5EF4-FFF2-40B4-BE49-F238E27FC236}">
                <a16:creationId xmlns:a16="http://schemas.microsoft.com/office/drawing/2014/main" id="{A9010B0E-5C3D-46A9-9171-337E3DEDFE85}"/>
              </a:ext>
            </a:extLst>
          </p:cNvPr>
          <p:cNvSpPr>
            <a:spLocks noGrp="1"/>
          </p:cNvSpPr>
          <p:nvPr/>
        </p:nvSpPr>
        <p:spPr>
          <a:xfrm>
            <a:off x="666750" y="2428875"/>
            <a:ext cx="1381125" cy="1200150"/>
          </a:xfrm>
          <a:prstGeom prst="roundRect">
            <a:avLst>
              <a:gd name="adj" fmla="val 11111"/>
            </a:avLst>
          </a:prstGeom>
          <a:solidFill>
            <a:srgbClr val="F3F6F8"/>
          </a:solidFill>
          <a:ln w="9525">
            <a:solidFill>
              <a:srgbClr val="D7E0E8"/>
            </a:solidFill>
            <a:prstDash val="solid"/>
          </a:ln>
        </p:spPr>
        <p:txBody>
          <a:bodyPr/>
          <a:lstStyle/>
          <a:p>
            <a:endParaRPr lang="en-GB"/>
          </a:p>
        </p:txBody>
      </p:sp>
      <p:sp>
        <p:nvSpPr>
          <p:cNvPr id="6" name="Dikdörtgen 5">
            <a:extLst>
              <a:ext uri="{FF2B5EF4-FFF2-40B4-BE49-F238E27FC236}">
                <a16:creationId xmlns:a16="http://schemas.microsoft.com/office/drawing/2014/main" id="{2A406C18-A0B3-4A3F-8263-02790E591283}"/>
              </a:ext>
            </a:extLst>
          </p:cNvPr>
          <p:cNvSpPr>
            <a:spLocks noGrp="1"/>
          </p:cNvSpPr>
          <p:nvPr/>
        </p:nvSpPr>
        <p:spPr>
          <a:xfrm>
            <a:off x="781050" y="2695575"/>
            <a:ext cx="1152525" cy="619125"/>
          </a:xfrm>
          <a:prstGeom prst="rect">
            <a:avLst/>
          </a:prstGeom>
          <a:noFill/>
          <a:ln w="0">
            <a:noFill/>
            <a:prstDash val="solid"/>
          </a:ln>
        </p:spPr>
        <p:txBody>
          <a:bodyPr/>
          <a:lstStyle/>
          <a:p>
            <a:pPr>
              <a:defRPr sz="1275" b="1">
                <a:solidFill>
                  <a:srgbClr val="102A43"/>
                </a:solidFill>
              </a:defRPr>
            </a:pPr>
            <a:r>
              <a:rPr sz="1275" b="1">
                <a:solidFill>
                  <a:srgbClr val="102A43"/>
                </a:solidFill>
              </a:rPr>
              <a:t>PolyBench/C</a:t>
            </a:r>
          </a:p>
          <a:p>
            <a:pPr>
              <a:defRPr sz="1275" b="1">
                <a:solidFill>
                  <a:srgbClr val="102A43"/>
                </a:solidFill>
              </a:defRPr>
            </a:pPr>
            <a:r>
              <a:rPr sz="1275" b="1">
                <a:solidFill>
                  <a:srgbClr val="102A43"/>
                </a:solidFill>
              </a:rPr>
              <a:t>kernels</a:t>
            </a:r>
          </a:p>
        </p:txBody>
      </p:sp>
      <p:sp>
        <p:nvSpPr>
          <p:cNvPr id="7" name="Dikdörtgen 6">
            <a:extLst>
              <a:ext uri="{FF2B5EF4-FFF2-40B4-BE49-F238E27FC236}">
                <a16:creationId xmlns:a16="http://schemas.microsoft.com/office/drawing/2014/main" id="{35F33638-38B0-4A9D-9470-EC5A3D7C6E4F}"/>
              </a:ext>
            </a:extLst>
          </p:cNvPr>
          <p:cNvSpPr>
            <a:spLocks noGrp="1"/>
          </p:cNvSpPr>
          <p:nvPr/>
        </p:nvSpPr>
        <p:spPr>
          <a:xfrm>
            <a:off x="2047875" y="2800350"/>
            <a:ext cx="428625" cy="428625"/>
          </a:xfrm>
          <a:prstGeom prst="rect">
            <a:avLst/>
          </a:prstGeom>
          <a:noFill/>
          <a:ln w="0">
            <a:noFill/>
            <a:prstDash val="solid"/>
          </a:ln>
        </p:spPr>
        <p:txBody>
          <a:bodyPr/>
          <a:lstStyle/>
          <a:p>
            <a:pPr>
              <a:defRPr sz="2550" b="1">
                <a:solidFill>
                  <a:srgbClr val="C62828"/>
                </a:solidFill>
              </a:defRPr>
            </a:pPr>
            <a:r>
              <a:rPr sz="2550" b="1">
                <a:solidFill>
                  <a:srgbClr val="C62828"/>
                </a:solidFill>
              </a:rPr>
              <a:t>→</a:t>
            </a:r>
          </a:p>
        </p:txBody>
      </p:sp>
      <p:sp>
        <p:nvSpPr>
          <p:cNvPr id="8" name="Dikdörtgen: Köşeleri Yuvarlatılmış 7">
            <a:extLst>
              <a:ext uri="{FF2B5EF4-FFF2-40B4-BE49-F238E27FC236}">
                <a16:creationId xmlns:a16="http://schemas.microsoft.com/office/drawing/2014/main" id="{81026A52-F264-44A5-933A-01B9942D975E}"/>
              </a:ext>
            </a:extLst>
          </p:cNvPr>
          <p:cNvSpPr>
            <a:spLocks noGrp="1"/>
          </p:cNvSpPr>
          <p:nvPr/>
        </p:nvSpPr>
        <p:spPr>
          <a:xfrm>
            <a:off x="2476500" y="2428875"/>
            <a:ext cx="1381125" cy="1200150"/>
          </a:xfrm>
          <a:prstGeom prst="roundRect">
            <a:avLst>
              <a:gd name="adj" fmla="val 11111"/>
            </a:avLst>
          </a:prstGeom>
          <a:solidFill>
            <a:srgbClr val="F3F6F8"/>
          </a:solidFill>
          <a:ln w="9525">
            <a:solidFill>
              <a:srgbClr val="D7E0E8"/>
            </a:solidFill>
            <a:prstDash val="solid"/>
          </a:ln>
        </p:spPr>
        <p:txBody>
          <a:bodyPr/>
          <a:lstStyle/>
          <a:p>
            <a:endParaRPr lang="en-GB"/>
          </a:p>
        </p:txBody>
      </p:sp>
      <p:sp>
        <p:nvSpPr>
          <p:cNvPr id="9" name="Dikdörtgen 8">
            <a:extLst>
              <a:ext uri="{FF2B5EF4-FFF2-40B4-BE49-F238E27FC236}">
                <a16:creationId xmlns:a16="http://schemas.microsoft.com/office/drawing/2014/main" id="{A563AE9E-ED85-4FD8-8197-DAD3F30AC5A5}"/>
              </a:ext>
            </a:extLst>
          </p:cNvPr>
          <p:cNvSpPr>
            <a:spLocks noGrp="1"/>
          </p:cNvSpPr>
          <p:nvPr/>
        </p:nvSpPr>
        <p:spPr>
          <a:xfrm>
            <a:off x="2590800" y="2695575"/>
            <a:ext cx="1152525" cy="619125"/>
          </a:xfrm>
          <a:prstGeom prst="rect">
            <a:avLst/>
          </a:prstGeom>
          <a:noFill/>
          <a:ln w="0">
            <a:noFill/>
            <a:prstDash val="solid"/>
          </a:ln>
        </p:spPr>
        <p:txBody>
          <a:bodyPr/>
          <a:lstStyle/>
          <a:p>
            <a:pPr>
              <a:defRPr sz="1275" b="1">
                <a:solidFill>
                  <a:srgbClr val="C62828"/>
                </a:solidFill>
              </a:defRPr>
            </a:pPr>
            <a:r>
              <a:rPr sz="1275" b="1">
                <a:solidFill>
                  <a:srgbClr val="C62828"/>
                </a:solidFill>
              </a:rPr>
              <a:t>Static</a:t>
            </a:r>
          </a:p>
          <a:p>
            <a:pPr>
              <a:defRPr sz="1275" b="1">
                <a:solidFill>
                  <a:srgbClr val="C62828"/>
                </a:solidFill>
              </a:defRPr>
            </a:pPr>
            <a:r>
              <a:rPr sz="1275" b="1">
                <a:solidFill>
                  <a:srgbClr val="C62828"/>
                </a:solidFill>
              </a:rPr>
              <a:t>features</a:t>
            </a:r>
          </a:p>
        </p:txBody>
      </p:sp>
      <p:sp>
        <p:nvSpPr>
          <p:cNvPr id="10" name="Dikdörtgen 9">
            <a:extLst>
              <a:ext uri="{FF2B5EF4-FFF2-40B4-BE49-F238E27FC236}">
                <a16:creationId xmlns:a16="http://schemas.microsoft.com/office/drawing/2014/main" id="{B71FF259-0250-407B-AE2D-112BCCA68FB9}"/>
              </a:ext>
            </a:extLst>
          </p:cNvPr>
          <p:cNvSpPr>
            <a:spLocks noGrp="1"/>
          </p:cNvSpPr>
          <p:nvPr/>
        </p:nvSpPr>
        <p:spPr>
          <a:xfrm>
            <a:off x="3857625" y="2800350"/>
            <a:ext cx="428625" cy="428625"/>
          </a:xfrm>
          <a:prstGeom prst="rect">
            <a:avLst/>
          </a:prstGeom>
          <a:noFill/>
          <a:ln w="0">
            <a:noFill/>
            <a:prstDash val="solid"/>
          </a:ln>
        </p:spPr>
        <p:txBody>
          <a:bodyPr/>
          <a:lstStyle/>
          <a:p>
            <a:pPr>
              <a:defRPr sz="2550" b="1">
                <a:solidFill>
                  <a:srgbClr val="C62828"/>
                </a:solidFill>
              </a:defRPr>
            </a:pPr>
            <a:r>
              <a:rPr sz="2550" b="1">
                <a:solidFill>
                  <a:srgbClr val="C62828"/>
                </a:solidFill>
              </a:rPr>
              <a:t>→</a:t>
            </a:r>
          </a:p>
        </p:txBody>
      </p:sp>
      <p:sp>
        <p:nvSpPr>
          <p:cNvPr id="11" name="Dikdörtgen: Köşeleri Yuvarlatılmış 10">
            <a:extLst>
              <a:ext uri="{FF2B5EF4-FFF2-40B4-BE49-F238E27FC236}">
                <a16:creationId xmlns:a16="http://schemas.microsoft.com/office/drawing/2014/main" id="{E4A4A463-BE14-4C61-B500-A97B3B86ACA8}"/>
              </a:ext>
            </a:extLst>
          </p:cNvPr>
          <p:cNvSpPr>
            <a:spLocks noGrp="1"/>
          </p:cNvSpPr>
          <p:nvPr/>
        </p:nvSpPr>
        <p:spPr>
          <a:xfrm>
            <a:off x="4286250" y="2428875"/>
            <a:ext cx="1381125" cy="1200150"/>
          </a:xfrm>
          <a:prstGeom prst="roundRect">
            <a:avLst>
              <a:gd name="adj" fmla="val 11111"/>
            </a:avLst>
          </a:prstGeom>
          <a:solidFill>
            <a:srgbClr val="F3F6F8"/>
          </a:solidFill>
          <a:ln w="9525">
            <a:solidFill>
              <a:srgbClr val="D7E0E8"/>
            </a:solidFill>
            <a:prstDash val="solid"/>
          </a:ln>
        </p:spPr>
        <p:txBody>
          <a:bodyPr/>
          <a:lstStyle/>
          <a:p>
            <a:endParaRPr lang="en-GB"/>
          </a:p>
        </p:txBody>
      </p:sp>
      <p:sp>
        <p:nvSpPr>
          <p:cNvPr id="12" name="Dikdörtgen 11">
            <a:extLst>
              <a:ext uri="{FF2B5EF4-FFF2-40B4-BE49-F238E27FC236}">
                <a16:creationId xmlns:a16="http://schemas.microsoft.com/office/drawing/2014/main" id="{B8074879-D3CB-4DDA-A835-5E7F6875EA7B}"/>
              </a:ext>
            </a:extLst>
          </p:cNvPr>
          <p:cNvSpPr>
            <a:spLocks noGrp="1"/>
          </p:cNvSpPr>
          <p:nvPr/>
        </p:nvSpPr>
        <p:spPr>
          <a:xfrm>
            <a:off x="4400550" y="2695575"/>
            <a:ext cx="1152525" cy="619125"/>
          </a:xfrm>
          <a:prstGeom prst="rect">
            <a:avLst/>
          </a:prstGeom>
          <a:noFill/>
          <a:ln w="0">
            <a:noFill/>
            <a:prstDash val="solid"/>
          </a:ln>
        </p:spPr>
        <p:txBody>
          <a:bodyPr/>
          <a:lstStyle/>
          <a:p>
            <a:pPr>
              <a:defRPr sz="1275" b="1">
                <a:solidFill>
                  <a:srgbClr val="D7A721"/>
                </a:solidFill>
              </a:defRPr>
            </a:pPr>
            <a:r>
              <a:rPr sz="1275" b="1">
                <a:solidFill>
                  <a:srgbClr val="D7A721"/>
                </a:solidFill>
              </a:rPr>
              <a:t>Bambu/HLS</a:t>
            </a:r>
          </a:p>
          <a:p>
            <a:pPr>
              <a:defRPr sz="1275" b="1">
                <a:solidFill>
                  <a:srgbClr val="D7A721"/>
                </a:solidFill>
              </a:defRPr>
            </a:pPr>
            <a:r>
              <a:rPr sz="1275" b="1">
                <a:solidFill>
                  <a:srgbClr val="D7A721"/>
                </a:solidFill>
              </a:rPr>
              <a:t>reports</a:t>
            </a:r>
          </a:p>
        </p:txBody>
      </p:sp>
      <p:sp>
        <p:nvSpPr>
          <p:cNvPr id="13" name="Dikdörtgen 12">
            <a:extLst>
              <a:ext uri="{FF2B5EF4-FFF2-40B4-BE49-F238E27FC236}">
                <a16:creationId xmlns:a16="http://schemas.microsoft.com/office/drawing/2014/main" id="{0D759772-9572-4740-9DBF-44B6AE46BD68}"/>
              </a:ext>
            </a:extLst>
          </p:cNvPr>
          <p:cNvSpPr>
            <a:spLocks noGrp="1"/>
          </p:cNvSpPr>
          <p:nvPr/>
        </p:nvSpPr>
        <p:spPr>
          <a:xfrm>
            <a:off x="5667375" y="2800350"/>
            <a:ext cx="428625" cy="428625"/>
          </a:xfrm>
          <a:prstGeom prst="rect">
            <a:avLst/>
          </a:prstGeom>
          <a:noFill/>
          <a:ln w="0">
            <a:noFill/>
            <a:prstDash val="solid"/>
          </a:ln>
        </p:spPr>
        <p:txBody>
          <a:bodyPr/>
          <a:lstStyle/>
          <a:p>
            <a:pPr>
              <a:defRPr sz="2550" b="1">
                <a:solidFill>
                  <a:srgbClr val="C62828"/>
                </a:solidFill>
              </a:defRPr>
            </a:pPr>
            <a:r>
              <a:rPr sz="2550" b="1">
                <a:solidFill>
                  <a:srgbClr val="C62828"/>
                </a:solidFill>
              </a:rPr>
              <a:t>→</a:t>
            </a:r>
          </a:p>
        </p:txBody>
      </p:sp>
      <p:sp>
        <p:nvSpPr>
          <p:cNvPr id="14" name="Dikdörtgen: Köşeleri Yuvarlatılmış 13">
            <a:extLst>
              <a:ext uri="{FF2B5EF4-FFF2-40B4-BE49-F238E27FC236}">
                <a16:creationId xmlns:a16="http://schemas.microsoft.com/office/drawing/2014/main" id="{F3BA7B71-811C-44C7-80CE-7196DE32DC6E}"/>
              </a:ext>
            </a:extLst>
          </p:cNvPr>
          <p:cNvSpPr>
            <a:spLocks noGrp="1"/>
          </p:cNvSpPr>
          <p:nvPr/>
        </p:nvSpPr>
        <p:spPr>
          <a:xfrm>
            <a:off x="6096000" y="2428875"/>
            <a:ext cx="1381125" cy="1200150"/>
          </a:xfrm>
          <a:prstGeom prst="roundRect">
            <a:avLst>
              <a:gd name="adj" fmla="val 11111"/>
            </a:avLst>
          </a:prstGeom>
          <a:solidFill>
            <a:srgbClr val="F3F6F8"/>
          </a:solidFill>
          <a:ln w="9525">
            <a:solidFill>
              <a:srgbClr val="D7E0E8"/>
            </a:solidFill>
            <a:prstDash val="solid"/>
          </a:ln>
        </p:spPr>
        <p:txBody>
          <a:bodyPr/>
          <a:lstStyle/>
          <a:p>
            <a:endParaRPr lang="en-GB"/>
          </a:p>
        </p:txBody>
      </p:sp>
      <p:sp>
        <p:nvSpPr>
          <p:cNvPr id="15" name="Dikdörtgen 14">
            <a:extLst>
              <a:ext uri="{FF2B5EF4-FFF2-40B4-BE49-F238E27FC236}">
                <a16:creationId xmlns:a16="http://schemas.microsoft.com/office/drawing/2014/main" id="{C8694E74-3CE1-45B0-A8F7-83056E87A0EF}"/>
              </a:ext>
            </a:extLst>
          </p:cNvPr>
          <p:cNvSpPr>
            <a:spLocks noGrp="1"/>
          </p:cNvSpPr>
          <p:nvPr/>
        </p:nvSpPr>
        <p:spPr>
          <a:xfrm>
            <a:off x="6210300" y="2695575"/>
            <a:ext cx="1152525" cy="619125"/>
          </a:xfrm>
          <a:prstGeom prst="rect">
            <a:avLst/>
          </a:prstGeom>
          <a:noFill/>
          <a:ln w="0">
            <a:noFill/>
            <a:prstDash val="solid"/>
          </a:ln>
        </p:spPr>
        <p:txBody>
          <a:bodyPr/>
          <a:lstStyle/>
          <a:p>
            <a:pPr>
              <a:defRPr sz="1275" b="1">
                <a:solidFill>
                  <a:srgbClr val="C62828"/>
                </a:solidFill>
              </a:defRPr>
            </a:pPr>
            <a:r>
              <a:rPr sz="1275" b="1">
                <a:solidFill>
                  <a:srgbClr val="C62828"/>
                </a:solidFill>
              </a:rPr>
              <a:t>Yosys</a:t>
            </a:r>
          </a:p>
          <a:p>
            <a:pPr>
              <a:defRPr sz="1275" b="1">
                <a:solidFill>
                  <a:srgbClr val="C62828"/>
                </a:solidFill>
              </a:defRPr>
            </a:pPr>
            <a:r>
              <a:rPr sz="1275" b="1">
                <a:solidFill>
                  <a:srgbClr val="C62828"/>
                </a:solidFill>
              </a:rPr>
              <a:t>statistics</a:t>
            </a:r>
          </a:p>
        </p:txBody>
      </p:sp>
      <p:sp>
        <p:nvSpPr>
          <p:cNvPr id="16" name="Dikdörtgen 15">
            <a:extLst>
              <a:ext uri="{FF2B5EF4-FFF2-40B4-BE49-F238E27FC236}">
                <a16:creationId xmlns:a16="http://schemas.microsoft.com/office/drawing/2014/main" id="{8E3A513F-C7EB-4B86-BE69-089A0990821D}"/>
              </a:ext>
            </a:extLst>
          </p:cNvPr>
          <p:cNvSpPr>
            <a:spLocks noGrp="1"/>
          </p:cNvSpPr>
          <p:nvPr/>
        </p:nvSpPr>
        <p:spPr>
          <a:xfrm>
            <a:off x="7477125" y="2800350"/>
            <a:ext cx="428625" cy="428625"/>
          </a:xfrm>
          <a:prstGeom prst="rect">
            <a:avLst/>
          </a:prstGeom>
          <a:noFill/>
          <a:ln w="0">
            <a:noFill/>
            <a:prstDash val="solid"/>
          </a:ln>
        </p:spPr>
        <p:txBody>
          <a:bodyPr/>
          <a:lstStyle/>
          <a:p>
            <a:pPr>
              <a:defRPr sz="2550" b="1">
                <a:solidFill>
                  <a:srgbClr val="C62828"/>
                </a:solidFill>
              </a:defRPr>
            </a:pPr>
            <a:r>
              <a:rPr sz="2550" b="1">
                <a:solidFill>
                  <a:srgbClr val="C62828"/>
                </a:solidFill>
              </a:rPr>
              <a:t>→</a:t>
            </a:r>
          </a:p>
        </p:txBody>
      </p:sp>
      <p:sp>
        <p:nvSpPr>
          <p:cNvPr id="17" name="Dikdörtgen: Köşeleri Yuvarlatılmış 16">
            <a:extLst>
              <a:ext uri="{FF2B5EF4-FFF2-40B4-BE49-F238E27FC236}">
                <a16:creationId xmlns:a16="http://schemas.microsoft.com/office/drawing/2014/main" id="{12E2A5CD-0368-44D2-A07E-5FA24B26E028}"/>
              </a:ext>
            </a:extLst>
          </p:cNvPr>
          <p:cNvSpPr>
            <a:spLocks noGrp="1"/>
          </p:cNvSpPr>
          <p:nvPr/>
        </p:nvSpPr>
        <p:spPr>
          <a:xfrm>
            <a:off x="7905750" y="2428875"/>
            <a:ext cx="1381125" cy="1200150"/>
          </a:xfrm>
          <a:prstGeom prst="roundRect">
            <a:avLst>
              <a:gd name="adj" fmla="val 11111"/>
            </a:avLst>
          </a:prstGeom>
          <a:solidFill>
            <a:srgbClr val="F3F6F8"/>
          </a:solidFill>
          <a:ln w="9525">
            <a:solidFill>
              <a:srgbClr val="D7E0E8"/>
            </a:solidFill>
            <a:prstDash val="solid"/>
          </a:ln>
        </p:spPr>
        <p:txBody>
          <a:bodyPr/>
          <a:lstStyle/>
          <a:p>
            <a:endParaRPr lang="en-GB"/>
          </a:p>
        </p:txBody>
      </p:sp>
      <p:sp>
        <p:nvSpPr>
          <p:cNvPr id="18" name="Dikdörtgen 17">
            <a:extLst>
              <a:ext uri="{FF2B5EF4-FFF2-40B4-BE49-F238E27FC236}">
                <a16:creationId xmlns:a16="http://schemas.microsoft.com/office/drawing/2014/main" id="{26CC5295-7B7D-4D2B-B855-C339608E66D0}"/>
              </a:ext>
            </a:extLst>
          </p:cNvPr>
          <p:cNvSpPr>
            <a:spLocks noGrp="1"/>
          </p:cNvSpPr>
          <p:nvPr/>
        </p:nvSpPr>
        <p:spPr>
          <a:xfrm>
            <a:off x="8020050" y="2695575"/>
            <a:ext cx="1152525" cy="619125"/>
          </a:xfrm>
          <a:prstGeom prst="rect">
            <a:avLst/>
          </a:prstGeom>
          <a:noFill/>
          <a:ln w="0">
            <a:noFill/>
            <a:prstDash val="solid"/>
          </a:ln>
        </p:spPr>
        <p:txBody>
          <a:bodyPr/>
          <a:lstStyle/>
          <a:p>
            <a:pPr>
              <a:defRPr sz="1275" b="1">
                <a:solidFill>
                  <a:srgbClr val="102A43"/>
                </a:solidFill>
              </a:defRPr>
            </a:pPr>
            <a:r>
              <a:rPr sz="1275" b="1">
                <a:solidFill>
                  <a:srgbClr val="102A43"/>
                </a:solidFill>
              </a:rPr>
              <a:t>OpenROAD</a:t>
            </a:r>
          </a:p>
          <a:p>
            <a:pPr>
              <a:defRPr sz="1275" b="1">
                <a:solidFill>
                  <a:srgbClr val="102A43"/>
                </a:solidFill>
              </a:defRPr>
            </a:pPr>
            <a:r>
              <a:rPr sz="1275" b="1">
                <a:solidFill>
                  <a:srgbClr val="102A43"/>
                </a:solidFill>
              </a:rPr>
              <a:t>QoR labels</a:t>
            </a:r>
          </a:p>
        </p:txBody>
      </p:sp>
      <p:sp>
        <p:nvSpPr>
          <p:cNvPr id="19" name="Dikdörtgen 18">
            <a:extLst>
              <a:ext uri="{FF2B5EF4-FFF2-40B4-BE49-F238E27FC236}">
                <a16:creationId xmlns:a16="http://schemas.microsoft.com/office/drawing/2014/main" id="{52C91F1C-B1A1-4AEF-B3CD-F66C50E9285D}"/>
              </a:ext>
            </a:extLst>
          </p:cNvPr>
          <p:cNvSpPr>
            <a:spLocks noGrp="1"/>
          </p:cNvSpPr>
          <p:nvPr/>
        </p:nvSpPr>
        <p:spPr>
          <a:xfrm>
            <a:off x="9286875" y="2800350"/>
            <a:ext cx="428625" cy="428625"/>
          </a:xfrm>
          <a:prstGeom prst="rect">
            <a:avLst/>
          </a:prstGeom>
          <a:noFill/>
          <a:ln w="0">
            <a:noFill/>
            <a:prstDash val="solid"/>
          </a:ln>
        </p:spPr>
        <p:txBody>
          <a:bodyPr/>
          <a:lstStyle/>
          <a:p>
            <a:pPr>
              <a:defRPr sz="2550" b="1">
                <a:solidFill>
                  <a:srgbClr val="C62828"/>
                </a:solidFill>
              </a:defRPr>
            </a:pPr>
            <a:r>
              <a:rPr sz="2550" b="1">
                <a:solidFill>
                  <a:srgbClr val="C62828"/>
                </a:solidFill>
              </a:rPr>
              <a:t>→</a:t>
            </a:r>
          </a:p>
        </p:txBody>
      </p:sp>
      <p:sp>
        <p:nvSpPr>
          <p:cNvPr id="20" name="Dikdörtgen: Köşeleri Yuvarlatılmış 19">
            <a:extLst>
              <a:ext uri="{FF2B5EF4-FFF2-40B4-BE49-F238E27FC236}">
                <a16:creationId xmlns:a16="http://schemas.microsoft.com/office/drawing/2014/main" id="{60B5E492-BE18-46D7-9356-221A4F7E0AEA}"/>
              </a:ext>
            </a:extLst>
          </p:cNvPr>
          <p:cNvSpPr>
            <a:spLocks noGrp="1"/>
          </p:cNvSpPr>
          <p:nvPr/>
        </p:nvSpPr>
        <p:spPr>
          <a:xfrm>
            <a:off x="9715500" y="2428875"/>
            <a:ext cx="1381125" cy="1200150"/>
          </a:xfrm>
          <a:prstGeom prst="roundRect">
            <a:avLst>
              <a:gd name="adj" fmla="val 11111"/>
            </a:avLst>
          </a:prstGeom>
          <a:solidFill>
            <a:srgbClr val="F3F6F8"/>
          </a:solidFill>
          <a:ln w="9525">
            <a:solidFill>
              <a:srgbClr val="D7E0E8"/>
            </a:solidFill>
            <a:prstDash val="solid"/>
          </a:ln>
        </p:spPr>
        <p:txBody>
          <a:bodyPr/>
          <a:lstStyle/>
          <a:p>
            <a:endParaRPr lang="en-GB"/>
          </a:p>
        </p:txBody>
      </p:sp>
      <p:sp>
        <p:nvSpPr>
          <p:cNvPr id="21" name="Dikdörtgen 20">
            <a:extLst>
              <a:ext uri="{FF2B5EF4-FFF2-40B4-BE49-F238E27FC236}">
                <a16:creationId xmlns:a16="http://schemas.microsoft.com/office/drawing/2014/main" id="{DDEDB827-DEE7-4A2F-9154-642724938C89}"/>
              </a:ext>
            </a:extLst>
          </p:cNvPr>
          <p:cNvSpPr>
            <a:spLocks noGrp="1"/>
          </p:cNvSpPr>
          <p:nvPr/>
        </p:nvSpPr>
        <p:spPr>
          <a:xfrm>
            <a:off x="9829800" y="2695575"/>
            <a:ext cx="1152525" cy="619125"/>
          </a:xfrm>
          <a:prstGeom prst="rect">
            <a:avLst/>
          </a:prstGeom>
          <a:noFill/>
          <a:ln w="0">
            <a:noFill/>
            <a:prstDash val="solid"/>
          </a:ln>
        </p:spPr>
        <p:txBody>
          <a:bodyPr/>
          <a:lstStyle/>
          <a:p>
            <a:pPr>
              <a:defRPr sz="1275" b="1">
                <a:solidFill>
                  <a:srgbClr val="0E7C66"/>
                </a:solidFill>
              </a:defRPr>
            </a:pPr>
            <a:r>
              <a:rPr sz="1275" b="1">
                <a:solidFill>
                  <a:srgbClr val="0E7C66"/>
                </a:solidFill>
              </a:rPr>
              <a:t>Regression</a:t>
            </a:r>
          </a:p>
          <a:p>
            <a:pPr>
              <a:defRPr sz="1275" b="1">
                <a:solidFill>
                  <a:srgbClr val="0E7C66"/>
                </a:solidFill>
              </a:defRPr>
            </a:pPr>
            <a:r>
              <a:rPr sz="1275" b="1">
                <a:solidFill>
                  <a:srgbClr val="0E7C66"/>
                </a:solidFill>
              </a:rPr>
              <a:t>models</a:t>
            </a:r>
          </a:p>
        </p:txBody>
      </p:sp>
      <p:sp>
        <p:nvSpPr>
          <p:cNvPr id="22" name="Dikdörtgen 21">
            <a:extLst>
              <a:ext uri="{FF2B5EF4-FFF2-40B4-BE49-F238E27FC236}">
                <a16:creationId xmlns:a16="http://schemas.microsoft.com/office/drawing/2014/main" id="{54FDA618-9CAD-41FF-A59E-B01C9C87276B}"/>
              </a:ext>
            </a:extLst>
          </p:cNvPr>
          <p:cNvSpPr>
            <a:spLocks noGrp="1"/>
          </p:cNvSpPr>
          <p:nvPr/>
        </p:nvSpPr>
        <p:spPr>
          <a:xfrm>
            <a:off x="666750" y="4286250"/>
            <a:ext cx="10668000" cy="266700"/>
          </a:xfrm>
          <a:prstGeom prst="rect">
            <a:avLst/>
          </a:prstGeom>
          <a:noFill/>
          <a:ln w="0">
            <a:noFill/>
            <a:prstDash val="solid"/>
          </a:ln>
        </p:spPr>
        <p:txBody>
          <a:bodyPr/>
          <a:lstStyle/>
          <a:p>
            <a:pPr>
              <a:defRPr sz="1275" b="0">
                <a:solidFill>
                  <a:srgbClr val="52667A"/>
                </a:solidFill>
              </a:defRPr>
            </a:pPr>
            <a:r>
              <a:rPr sz="1275" b="0">
                <a:solidFill>
                  <a:srgbClr val="52667A"/>
                </a:solidFill>
              </a:rPr>
              <a:t>Static parsing: extract_static_features.py  |  Yosys: parse_yosys_reports.py  |  OpenROAD: parse_openroad_reports.py</a:t>
            </a:r>
          </a:p>
        </p:txBody>
      </p:sp>
      <p:sp>
        <p:nvSpPr>
          <p:cNvPr id="23" name="Dikdörtgen 22">
            <a:extLst>
              <a:ext uri="{FF2B5EF4-FFF2-40B4-BE49-F238E27FC236}">
                <a16:creationId xmlns:a16="http://schemas.microsoft.com/office/drawing/2014/main" id="{837030C1-BE35-4AF7-9B8F-5E3C690D085F}"/>
              </a:ext>
            </a:extLst>
          </p:cNvPr>
          <p:cNvSpPr>
            <a:spLocks noGrp="1"/>
          </p:cNvSpPr>
          <p:nvPr/>
        </p:nvSpPr>
        <p:spPr>
          <a:xfrm>
            <a:off x="666750" y="4667250"/>
            <a:ext cx="10668000" cy="266700"/>
          </a:xfrm>
          <a:prstGeom prst="rect">
            <a:avLst/>
          </a:prstGeom>
          <a:noFill/>
          <a:ln w="0">
            <a:noFill/>
            <a:prstDash val="solid"/>
          </a:ln>
        </p:spPr>
        <p:txBody>
          <a:bodyPr/>
          <a:lstStyle/>
          <a:p>
            <a:pPr>
              <a:defRPr sz="1275" b="0">
                <a:solidFill>
                  <a:srgbClr val="52667A"/>
                </a:solidFill>
              </a:defRPr>
            </a:pPr>
            <a:r>
              <a:rPr sz="1275" b="0">
                <a:solidFill>
                  <a:srgbClr val="52667A"/>
                </a:solidFill>
              </a:rPr>
              <a:t>Modeling: train_baseline.py · train_feature_engineered_models.py · train_rigorous_feature_models.py · train_ablation_models.py</a:t>
            </a:r>
          </a:p>
        </p:txBody>
      </p:sp>
      <p:sp>
        <p:nvSpPr>
          <p:cNvPr id="24" name="Dikdörtgen: Köşeleri Yuvarlatılmış 23">
            <a:extLst>
              <a:ext uri="{FF2B5EF4-FFF2-40B4-BE49-F238E27FC236}">
                <a16:creationId xmlns:a16="http://schemas.microsoft.com/office/drawing/2014/main" id="{72A1AA78-9240-4595-9976-5B554866E8AB}"/>
              </a:ext>
            </a:extLst>
          </p:cNvPr>
          <p:cNvSpPr>
            <a:spLocks noGrp="1"/>
          </p:cNvSpPr>
          <p:nvPr/>
        </p:nvSpPr>
        <p:spPr>
          <a:xfrm>
            <a:off x="666750" y="5286375"/>
            <a:ext cx="10858500" cy="571500"/>
          </a:xfrm>
          <a:prstGeom prst="roundRect">
            <a:avLst>
              <a:gd name="adj" fmla="val 20000"/>
            </a:avLst>
          </a:prstGeom>
          <a:solidFill>
            <a:srgbClr val="FFF7ED"/>
          </a:solidFill>
          <a:ln w="9525">
            <a:solidFill>
              <a:srgbClr val="F6C98C"/>
            </a:solidFill>
            <a:prstDash val="solid"/>
          </a:ln>
        </p:spPr>
        <p:txBody>
          <a:bodyPr/>
          <a:lstStyle/>
          <a:p>
            <a:endParaRPr lang="en-GB"/>
          </a:p>
        </p:txBody>
      </p:sp>
      <p:sp>
        <p:nvSpPr>
          <p:cNvPr id="25" name="Dikdörtgen 24">
            <a:extLst>
              <a:ext uri="{FF2B5EF4-FFF2-40B4-BE49-F238E27FC236}">
                <a16:creationId xmlns:a16="http://schemas.microsoft.com/office/drawing/2014/main" id="{E8983EAC-C91C-44F2-8FF5-D9BA74509288}"/>
              </a:ext>
            </a:extLst>
          </p:cNvPr>
          <p:cNvSpPr>
            <a:spLocks noGrp="1"/>
          </p:cNvSpPr>
          <p:nvPr/>
        </p:nvSpPr>
        <p:spPr>
          <a:xfrm>
            <a:off x="904875" y="5457825"/>
            <a:ext cx="10287000" cy="247650"/>
          </a:xfrm>
          <a:prstGeom prst="rect">
            <a:avLst/>
          </a:prstGeom>
          <a:noFill/>
          <a:ln w="0">
            <a:noFill/>
            <a:prstDash val="solid"/>
          </a:ln>
        </p:spPr>
        <p:txBody>
          <a:bodyPr/>
          <a:lstStyle/>
          <a:p>
            <a:pPr>
              <a:defRPr sz="1575" b="1">
                <a:solidFill>
                  <a:srgbClr val="D97706"/>
                </a:solidFill>
              </a:defRPr>
            </a:pPr>
            <a:r>
              <a:rPr sz="1575" b="1">
                <a:solidFill>
                  <a:srgbClr val="D97706"/>
                </a:solidFill>
              </a:rPr>
              <a:t>Only features available before final OpenROAD are used for the main surrogate inputs.</a:t>
            </a:r>
          </a:p>
        </p:txBody>
      </p:sp>
      <p:sp>
        <p:nvSpPr>
          <p:cNvPr id="26" name="Dikdörtgen 25">
            <a:extLst>
              <a:ext uri="{FF2B5EF4-FFF2-40B4-BE49-F238E27FC236}">
                <a16:creationId xmlns:a16="http://schemas.microsoft.com/office/drawing/2014/main" id="{4B6A4306-68E6-4FDC-8D77-095747B4B8B3}"/>
              </a:ext>
            </a:extLst>
          </p:cNvPr>
          <p:cNvSpPr>
            <a:spLocks noGrp="1"/>
          </p:cNvSpPr>
          <p:nvPr/>
        </p:nvSpPr>
        <p:spPr>
          <a:xfrm>
            <a:off x="666750" y="6477000"/>
            <a:ext cx="7143750" cy="171450"/>
          </a:xfrm>
          <a:prstGeom prst="rect">
            <a:avLst/>
          </a:prstGeom>
          <a:noFill/>
          <a:ln w="0">
            <a:noFill/>
            <a:prstDash val="solid"/>
          </a:ln>
        </p:spPr>
        <p:txBody>
          <a:bodyPr/>
          <a:lstStyle/>
          <a:p>
            <a:pPr>
              <a:defRPr sz="825" b="0">
                <a:solidFill>
                  <a:srgbClr val="7A8795"/>
                </a:solidFill>
              </a:defRPr>
            </a:pPr>
            <a:r>
              <a:rPr sz="825" b="0">
                <a:solidFill>
                  <a:srgbClr val="7A8795"/>
                </a:solidFill>
              </a:rPr>
              <a:t>Advanced Computer Architectures | Politecnico di Milano</a:t>
            </a:r>
          </a:p>
        </p:txBody>
      </p:sp>
      <p:sp>
        <p:nvSpPr>
          <p:cNvPr id="27" name="Dikdörtgen 26">
            <a:extLst>
              <a:ext uri="{FF2B5EF4-FFF2-40B4-BE49-F238E27FC236}">
                <a16:creationId xmlns:a16="http://schemas.microsoft.com/office/drawing/2014/main" id="{EB1349EB-0B09-400E-AFEA-3476182CD1FF}"/>
              </a:ext>
            </a:extLst>
          </p:cNvPr>
          <p:cNvSpPr>
            <a:spLocks noGrp="1"/>
          </p:cNvSpPr>
          <p:nvPr/>
        </p:nvSpPr>
        <p:spPr>
          <a:xfrm>
            <a:off x="10782300" y="6477000"/>
            <a:ext cx="742950" cy="171450"/>
          </a:xfrm>
          <a:prstGeom prst="rect">
            <a:avLst/>
          </a:prstGeom>
          <a:noFill/>
          <a:ln w="0">
            <a:noFill/>
            <a:prstDash val="solid"/>
          </a:ln>
        </p:spPr>
        <p:txBody>
          <a:bodyPr/>
          <a:lstStyle/>
          <a:p>
            <a:pPr>
              <a:defRPr sz="825" b="0">
                <a:solidFill>
                  <a:srgbClr val="7A8795"/>
                </a:solidFill>
              </a:defRPr>
            </a:pPr>
            <a:r>
              <a:rPr sz="825" b="0">
                <a:solidFill>
                  <a:srgbClr val="7A8795"/>
                </a:solidFill>
              </a:rPr>
              <a:t>3 / 10</a:t>
            </a:r>
          </a:p>
        </p:txBody>
      </p:sp>
    </p:spTree>
    <p:extLst>
      <p:ext uri="{BB962C8B-B14F-4D97-AF65-F5344CB8AC3E}">
        <p14:creationId xmlns:p14="http://schemas.microsoft.com/office/powerpoint/2010/main" val="999864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Dikdörtgen 21">
            <a:extLst>
              <a:ext uri="{FF2B5EF4-FFF2-40B4-BE49-F238E27FC236}">
                <a16:creationId xmlns:a16="http://schemas.microsoft.com/office/drawing/2014/main" id="{F61B893B-0ED5-4029-8B9B-9562C9C51C20}"/>
              </a:ext>
            </a:extLst>
          </p:cNvPr>
          <p:cNvSpPr>
            <a:spLocks noGrp="1"/>
          </p:cNvSpPr>
          <p:nvPr/>
        </p:nvSpPr>
        <p:spPr>
          <a:xfrm>
            <a:off x="666750" y="400050"/>
            <a:ext cx="495300" cy="228600"/>
          </a:xfrm>
          <a:prstGeom prst="rect">
            <a:avLst/>
          </a:prstGeom>
          <a:noFill/>
          <a:ln w="0">
            <a:noFill/>
            <a:prstDash val="solid"/>
          </a:ln>
        </p:spPr>
        <p:txBody>
          <a:bodyPr/>
          <a:lstStyle/>
          <a:p>
            <a:pPr>
              <a:defRPr sz="1050" b="1">
                <a:solidFill>
                  <a:srgbClr val="C62828"/>
                </a:solidFill>
              </a:defRPr>
            </a:pPr>
            <a:r>
              <a:rPr sz="1050" b="1">
                <a:solidFill>
                  <a:srgbClr val="C62828"/>
                </a:solidFill>
              </a:rPr>
              <a:t>04</a:t>
            </a:r>
          </a:p>
        </p:txBody>
      </p:sp>
      <p:sp>
        <p:nvSpPr>
          <p:cNvPr id="2" name="Dikdörtgen 1">
            <a:extLst>
              <a:ext uri="{FF2B5EF4-FFF2-40B4-BE49-F238E27FC236}">
                <a16:creationId xmlns:a16="http://schemas.microsoft.com/office/drawing/2014/main" id="{136D1600-DD09-48FA-985D-FFF0491B4F9C}"/>
              </a:ext>
            </a:extLst>
          </p:cNvPr>
          <p:cNvSpPr>
            <a:spLocks noGrp="1"/>
          </p:cNvSpPr>
          <p:nvPr/>
        </p:nvSpPr>
        <p:spPr>
          <a:xfrm>
            <a:off x="666750" y="666750"/>
            <a:ext cx="10096500" cy="495300"/>
          </a:xfrm>
          <a:prstGeom prst="rect">
            <a:avLst/>
          </a:prstGeom>
          <a:noFill/>
          <a:ln w="0">
            <a:noFill/>
            <a:prstDash val="solid"/>
          </a:ln>
        </p:spPr>
        <p:txBody>
          <a:bodyPr/>
          <a:lstStyle/>
          <a:p>
            <a:pPr>
              <a:defRPr sz="2550" b="1">
                <a:solidFill>
                  <a:srgbClr val="102A43"/>
                </a:solidFill>
              </a:defRPr>
            </a:pPr>
            <a:r>
              <a:rPr sz="2550" b="1">
                <a:solidFill>
                  <a:srgbClr val="102A43"/>
                </a:solidFill>
              </a:rPr>
              <a:t>Dataset progression: 864 to 79 to 18</a:t>
            </a:r>
          </a:p>
        </p:txBody>
      </p:sp>
      <p:sp>
        <p:nvSpPr>
          <p:cNvPr id="3" name="Dikdörtgen 2">
            <a:extLst>
              <a:ext uri="{FF2B5EF4-FFF2-40B4-BE49-F238E27FC236}">
                <a16:creationId xmlns:a16="http://schemas.microsoft.com/office/drawing/2014/main" id="{32DF41E9-AD1A-4AB1-8870-8C047575D905}"/>
              </a:ext>
            </a:extLst>
          </p:cNvPr>
          <p:cNvSpPr>
            <a:spLocks noGrp="1"/>
          </p:cNvSpPr>
          <p:nvPr/>
        </p:nvSpPr>
        <p:spPr>
          <a:xfrm>
            <a:off x="666750" y="1543050"/>
            <a:ext cx="10858500" cy="19050"/>
          </a:xfrm>
          <a:prstGeom prst="rect">
            <a:avLst/>
          </a:prstGeom>
          <a:solidFill>
            <a:srgbClr val="C62828"/>
          </a:solidFill>
          <a:ln w="0">
            <a:noFill/>
            <a:prstDash val="solid"/>
          </a:ln>
        </p:spPr>
        <p:txBody>
          <a:bodyPr/>
          <a:lstStyle/>
          <a:p>
            <a:endParaRPr lang="en-GB"/>
          </a:p>
        </p:txBody>
      </p:sp>
      <p:sp>
        <p:nvSpPr>
          <p:cNvPr id="4" name="Dikdörtgen: Köşeleri Yuvarlatılmış 3">
            <a:extLst>
              <a:ext uri="{FF2B5EF4-FFF2-40B4-BE49-F238E27FC236}">
                <a16:creationId xmlns:a16="http://schemas.microsoft.com/office/drawing/2014/main" id="{4D96F5E9-6A30-4971-AB1E-0A9BD9E3E8DE}"/>
              </a:ext>
            </a:extLst>
          </p:cNvPr>
          <p:cNvSpPr>
            <a:spLocks noGrp="1"/>
          </p:cNvSpPr>
          <p:nvPr/>
        </p:nvSpPr>
        <p:spPr>
          <a:xfrm>
            <a:off x="809625" y="2286000"/>
            <a:ext cx="2238375" cy="1295400"/>
          </a:xfrm>
          <a:prstGeom prst="roundRect">
            <a:avLst>
              <a:gd name="adj" fmla="val 13235"/>
            </a:avLst>
          </a:prstGeom>
          <a:solidFill>
            <a:srgbClr val="FFFFFF"/>
          </a:solidFill>
          <a:ln w="9525">
            <a:solidFill>
              <a:srgbClr val="D7E0E8"/>
            </a:solidFill>
            <a:prstDash val="solid"/>
          </a:ln>
        </p:spPr>
        <p:txBody>
          <a:bodyPr/>
          <a:lstStyle/>
          <a:p>
            <a:endParaRPr lang="en-GB"/>
          </a:p>
        </p:txBody>
      </p:sp>
      <p:sp>
        <p:nvSpPr>
          <p:cNvPr id="5" name="Dikdörtgen 4">
            <a:extLst>
              <a:ext uri="{FF2B5EF4-FFF2-40B4-BE49-F238E27FC236}">
                <a16:creationId xmlns:a16="http://schemas.microsoft.com/office/drawing/2014/main" id="{D4FC8C51-2C18-42C9-8277-43856E3A5730}"/>
              </a:ext>
            </a:extLst>
          </p:cNvPr>
          <p:cNvSpPr>
            <a:spLocks noGrp="1"/>
          </p:cNvSpPr>
          <p:nvPr/>
        </p:nvSpPr>
        <p:spPr>
          <a:xfrm>
            <a:off x="1000125" y="2457450"/>
            <a:ext cx="1857375" cy="457200"/>
          </a:xfrm>
          <a:prstGeom prst="rect">
            <a:avLst/>
          </a:prstGeom>
          <a:noFill/>
          <a:ln w="0">
            <a:noFill/>
            <a:prstDash val="solid"/>
          </a:ln>
        </p:spPr>
        <p:txBody>
          <a:bodyPr/>
          <a:lstStyle/>
          <a:p>
            <a:pPr>
              <a:defRPr sz="2325" b="1">
                <a:solidFill>
                  <a:srgbClr val="102A43"/>
                </a:solidFill>
              </a:defRPr>
            </a:pPr>
            <a:r>
              <a:rPr sz="2325" b="1">
                <a:solidFill>
                  <a:srgbClr val="102A43"/>
                </a:solidFill>
              </a:rPr>
              <a:t>864</a:t>
            </a:r>
          </a:p>
        </p:txBody>
      </p:sp>
      <p:sp>
        <p:nvSpPr>
          <p:cNvPr id="6" name="Dikdörtgen 5">
            <a:extLst>
              <a:ext uri="{FF2B5EF4-FFF2-40B4-BE49-F238E27FC236}">
                <a16:creationId xmlns:a16="http://schemas.microsoft.com/office/drawing/2014/main" id="{27997103-ED87-4461-A973-74263F5F5BA5}"/>
              </a:ext>
            </a:extLst>
          </p:cNvPr>
          <p:cNvSpPr>
            <a:spLocks noGrp="1"/>
          </p:cNvSpPr>
          <p:nvPr/>
        </p:nvSpPr>
        <p:spPr>
          <a:xfrm>
            <a:off x="1000125" y="2952750"/>
            <a:ext cx="1857375" cy="361950"/>
          </a:xfrm>
          <a:prstGeom prst="rect">
            <a:avLst/>
          </a:prstGeom>
          <a:noFill/>
          <a:ln w="0">
            <a:noFill/>
            <a:prstDash val="solid"/>
          </a:ln>
        </p:spPr>
        <p:txBody>
          <a:bodyPr/>
          <a:lstStyle/>
          <a:p>
            <a:pPr>
              <a:defRPr sz="1275" b="0">
                <a:solidFill>
                  <a:srgbClr val="52667A"/>
                </a:solidFill>
              </a:defRPr>
            </a:pPr>
            <a:r>
              <a:rPr sz="1275" b="0">
                <a:solidFill>
                  <a:srgbClr val="52667A"/>
                </a:solidFill>
              </a:rPr>
              <a:t>early Bambu/HLS configurations</a:t>
            </a:r>
          </a:p>
        </p:txBody>
      </p:sp>
      <p:sp>
        <p:nvSpPr>
          <p:cNvPr id="7" name="Dikdörtgen 6">
            <a:extLst>
              <a:ext uri="{FF2B5EF4-FFF2-40B4-BE49-F238E27FC236}">
                <a16:creationId xmlns:a16="http://schemas.microsoft.com/office/drawing/2014/main" id="{0CB23030-D8F9-4935-B798-4AA81610C00A}"/>
              </a:ext>
            </a:extLst>
          </p:cNvPr>
          <p:cNvSpPr>
            <a:spLocks noGrp="1"/>
          </p:cNvSpPr>
          <p:nvPr/>
        </p:nvSpPr>
        <p:spPr>
          <a:xfrm>
            <a:off x="3095625" y="2714625"/>
            <a:ext cx="704850" cy="428625"/>
          </a:xfrm>
          <a:prstGeom prst="rect">
            <a:avLst/>
          </a:prstGeom>
          <a:noFill/>
          <a:ln w="0">
            <a:noFill/>
            <a:prstDash val="solid"/>
          </a:ln>
        </p:spPr>
        <p:txBody>
          <a:bodyPr/>
          <a:lstStyle/>
          <a:p>
            <a:pPr>
              <a:defRPr sz="2550" b="1">
                <a:solidFill>
                  <a:srgbClr val="C62828"/>
                </a:solidFill>
              </a:defRPr>
            </a:pPr>
            <a:r>
              <a:rPr sz="2550" b="1">
                <a:solidFill>
                  <a:srgbClr val="C62828"/>
                </a:solidFill>
              </a:rPr>
              <a:t>→</a:t>
            </a:r>
          </a:p>
        </p:txBody>
      </p:sp>
      <p:sp>
        <p:nvSpPr>
          <p:cNvPr id="8" name="Dikdörtgen: Köşeleri Yuvarlatılmış 7">
            <a:extLst>
              <a:ext uri="{FF2B5EF4-FFF2-40B4-BE49-F238E27FC236}">
                <a16:creationId xmlns:a16="http://schemas.microsoft.com/office/drawing/2014/main" id="{BE012A83-11ED-4612-83B1-4F5D960D31FF}"/>
              </a:ext>
            </a:extLst>
          </p:cNvPr>
          <p:cNvSpPr>
            <a:spLocks noGrp="1"/>
          </p:cNvSpPr>
          <p:nvPr/>
        </p:nvSpPr>
        <p:spPr>
          <a:xfrm>
            <a:off x="3857625" y="2286000"/>
            <a:ext cx="2238375" cy="1295400"/>
          </a:xfrm>
          <a:prstGeom prst="roundRect">
            <a:avLst>
              <a:gd name="adj" fmla="val 13235"/>
            </a:avLst>
          </a:prstGeom>
          <a:solidFill>
            <a:srgbClr val="FFFFFF"/>
          </a:solidFill>
          <a:ln w="9525">
            <a:solidFill>
              <a:srgbClr val="D7E0E8"/>
            </a:solidFill>
            <a:prstDash val="solid"/>
          </a:ln>
        </p:spPr>
        <p:txBody>
          <a:bodyPr/>
          <a:lstStyle/>
          <a:p>
            <a:endParaRPr lang="en-GB"/>
          </a:p>
        </p:txBody>
      </p:sp>
      <p:sp>
        <p:nvSpPr>
          <p:cNvPr id="9" name="Dikdörtgen 8">
            <a:extLst>
              <a:ext uri="{FF2B5EF4-FFF2-40B4-BE49-F238E27FC236}">
                <a16:creationId xmlns:a16="http://schemas.microsoft.com/office/drawing/2014/main" id="{5E0846CC-87C1-48FF-AE67-C80DE6A4B86A}"/>
              </a:ext>
            </a:extLst>
          </p:cNvPr>
          <p:cNvSpPr>
            <a:spLocks noGrp="1"/>
          </p:cNvSpPr>
          <p:nvPr/>
        </p:nvSpPr>
        <p:spPr>
          <a:xfrm>
            <a:off x="4048125" y="2457450"/>
            <a:ext cx="1857375" cy="457200"/>
          </a:xfrm>
          <a:prstGeom prst="rect">
            <a:avLst/>
          </a:prstGeom>
          <a:noFill/>
          <a:ln w="0">
            <a:noFill/>
            <a:prstDash val="solid"/>
          </a:ln>
        </p:spPr>
        <p:txBody>
          <a:bodyPr/>
          <a:lstStyle/>
          <a:p>
            <a:pPr>
              <a:defRPr sz="2325" b="1">
                <a:solidFill>
                  <a:srgbClr val="C62828"/>
                </a:solidFill>
              </a:defRPr>
            </a:pPr>
            <a:r>
              <a:rPr sz="2325" b="1">
                <a:solidFill>
                  <a:srgbClr val="C62828"/>
                </a:solidFill>
              </a:rPr>
              <a:t>79</a:t>
            </a:r>
          </a:p>
        </p:txBody>
      </p:sp>
      <p:sp>
        <p:nvSpPr>
          <p:cNvPr id="10" name="Dikdörtgen 9">
            <a:extLst>
              <a:ext uri="{FF2B5EF4-FFF2-40B4-BE49-F238E27FC236}">
                <a16:creationId xmlns:a16="http://schemas.microsoft.com/office/drawing/2014/main" id="{D78A79DB-89F0-49F6-8238-B0CC2159A6C5}"/>
              </a:ext>
            </a:extLst>
          </p:cNvPr>
          <p:cNvSpPr>
            <a:spLocks noGrp="1"/>
          </p:cNvSpPr>
          <p:nvPr/>
        </p:nvSpPr>
        <p:spPr>
          <a:xfrm>
            <a:off x="4048125" y="2952750"/>
            <a:ext cx="1857375" cy="361950"/>
          </a:xfrm>
          <a:prstGeom prst="rect">
            <a:avLst/>
          </a:prstGeom>
          <a:noFill/>
          <a:ln w="0">
            <a:noFill/>
            <a:prstDash val="solid"/>
          </a:ln>
        </p:spPr>
        <p:txBody>
          <a:bodyPr/>
          <a:lstStyle/>
          <a:p>
            <a:pPr>
              <a:defRPr sz="1275" b="0">
                <a:solidFill>
                  <a:srgbClr val="52667A"/>
                </a:solidFill>
              </a:defRPr>
            </a:pPr>
            <a:r>
              <a:rPr sz="1275" b="0">
                <a:solidFill>
                  <a:srgbClr val="52667A"/>
                </a:solidFill>
              </a:rPr>
              <a:t>usable Yosys-statistics configurations</a:t>
            </a:r>
          </a:p>
        </p:txBody>
      </p:sp>
      <p:sp>
        <p:nvSpPr>
          <p:cNvPr id="11" name="Dikdörtgen 10">
            <a:extLst>
              <a:ext uri="{FF2B5EF4-FFF2-40B4-BE49-F238E27FC236}">
                <a16:creationId xmlns:a16="http://schemas.microsoft.com/office/drawing/2014/main" id="{463E3AD8-DA31-445E-8359-0072A3279C2C}"/>
              </a:ext>
            </a:extLst>
          </p:cNvPr>
          <p:cNvSpPr>
            <a:spLocks noGrp="1"/>
          </p:cNvSpPr>
          <p:nvPr/>
        </p:nvSpPr>
        <p:spPr>
          <a:xfrm>
            <a:off x="6143625" y="2714625"/>
            <a:ext cx="704850" cy="428625"/>
          </a:xfrm>
          <a:prstGeom prst="rect">
            <a:avLst/>
          </a:prstGeom>
          <a:noFill/>
          <a:ln w="0">
            <a:noFill/>
            <a:prstDash val="solid"/>
          </a:ln>
        </p:spPr>
        <p:txBody>
          <a:bodyPr/>
          <a:lstStyle/>
          <a:p>
            <a:pPr>
              <a:defRPr sz="2550" b="1">
                <a:solidFill>
                  <a:srgbClr val="C62828"/>
                </a:solidFill>
              </a:defRPr>
            </a:pPr>
            <a:r>
              <a:rPr sz="2550" b="1">
                <a:solidFill>
                  <a:srgbClr val="C62828"/>
                </a:solidFill>
              </a:rPr>
              <a:t>→</a:t>
            </a:r>
          </a:p>
        </p:txBody>
      </p:sp>
      <p:sp>
        <p:nvSpPr>
          <p:cNvPr id="12" name="Dikdörtgen: Köşeleri Yuvarlatılmış 11">
            <a:extLst>
              <a:ext uri="{FF2B5EF4-FFF2-40B4-BE49-F238E27FC236}">
                <a16:creationId xmlns:a16="http://schemas.microsoft.com/office/drawing/2014/main" id="{AFF8369F-20ED-4E20-9738-771C1FD18E7E}"/>
              </a:ext>
            </a:extLst>
          </p:cNvPr>
          <p:cNvSpPr>
            <a:spLocks noGrp="1"/>
          </p:cNvSpPr>
          <p:nvPr/>
        </p:nvSpPr>
        <p:spPr>
          <a:xfrm>
            <a:off x="6905625" y="2286000"/>
            <a:ext cx="2238375" cy="1295400"/>
          </a:xfrm>
          <a:prstGeom prst="roundRect">
            <a:avLst>
              <a:gd name="adj" fmla="val 13235"/>
            </a:avLst>
          </a:prstGeom>
          <a:solidFill>
            <a:srgbClr val="FFFFFF"/>
          </a:solidFill>
          <a:ln w="9525">
            <a:solidFill>
              <a:srgbClr val="D7E0E8"/>
            </a:solidFill>
            <a:prstDash val="solid"/>
          </a:ln>
        </p:spPr>
        <p:txBody>
          <a:bodyPr/>
          <a:lstStyle/>
          <a:p>
            <a:endParaRPr lang="en-GB"/>
          </a:p>
        </p:txBody>
      </p:sp>
      <p:sp>
        <p:nvSpPr>
          <p:cNvPr id="13" name="Dikdörtgen 12">
            <a:extLst>
              <a:ext uri="{FF2B5EF4-FFF2-40B4-BE49-F238E27FC236}">
                <a16:creationId xmlns:a16="http://schemas.microsoft.com/office/drawing/2014/main" id="{31F63EDA-F552-4B9A-BEEA-0628EBD42316}"/>
              </a:ext>
            </a:extLst>
          </p:cNvPr>
          <p:cNvSpPr>
            <a:spLocks noGrp="1"/>
          </p:cNvSpPr>
          <p:nvPr/>
        </p:nvSpPr>
        <p:spPr>
          <a:xfrm>
            <a:off x="7096125" y="2457450"/>
            <a:ext cx="1857375" cy="457200"/>
          </a:xfrm>
          <a:prstGeom prst="rect">
            <a:avLst/>
          </a:prstGeom>
          <a:noFill/>
          <a:ln w="0">
            <a:noFill/>
            <a:prstDash val="solid"/>
          </a:ln>
        </p:spPr>
        <p:txBody>
          <a:bodyPr/>
          <a:lstStyle/>
          <a:p>
            <a:pPr>
              <a:defRPr sz="2325" b="1">
                <a:solidFill>
                  <a:srgbClr val="0E7C66"/>
                </a:solidFill>
              </a:defRPr>
            </a:pPr>
            <a:r>
              <a:rPr sz="2325" b="1">
                <a:solidFill>
                  <a:srgbClr val="0E7C66"/>
                </a:solidFill>
              </a:rPr>
              <a:t>18</a:t>
            </a:r>
          </a:p>
        </p:txBody>
      </p:sp>
      <p:sp>
        <p:nvSpPr>
          <p:cNvPr id="14" name="Dikdörtgen 13">
            <a:extLst>
              <a:ext uri="{FF2B5EF4-FFF2-40B4-BE49-F238E27FC236}">
                <a16:creationId xmlns:a16="http://schemas.microsoft.com/office/drawing/2014/main" id="{3CAA8C0C-2975-4F27-8D35-662CA85389D7}"/>
              </a:ext>
            </a:extLst>
          </p:cNvPr>
          <p:cNvSpPr>
            <a:spLocks noGrp="1"/>
          </p:cNvSpPr>
          <p:nvPr/>
        </p:nvSpPr>
        <p:spPr>
          <a:xfrm>
            <a:off x="7096125" y="2952750"/>
            <a:ext cx="1857375" cy="361950"/>
          </a:xfrm>
          <a:prstGeom prst="rect">
            <a:avLst/>
          </a:prstGeom>
          <a:noFill/>
          <a:ln w="0">
            <a:noFill/>
            <a:prstDash val="solid"/>
          </a:ln>
        </p:spPr>
        <p:txBody>
          <a:bodyPr/>
          <a:lstStyle/>
          <a:p>
            <a:pPr>
              <a:defRPr sz="1275" b="0">
                <a:solidFill>
                  <a:srgbClr val="52667A"/>
                </a:solidFill>
              </a:defRPr>
            </a:pPr>
            <a:r>
              <a:rPr sz="1275" b="0">
                <a:solidFill>
                  <a:srgbClr val="52667A"/>
                </a:solidFill>
              </a:rPr>
              <a:t>complete OpenROAD QoR labels</a:t>
            </a:r>
          </a:p>
        </p:txBody>
      </p:sp>
      <p:sp>
        <p:nvSpPr>
          <p:cNvPr id="15" name="Dikdörtgen: Köşeleri Yuvarlatılmış 14">
            <a:extLst>
              <a:ext uri="{FF2B5EF4-FFF2-40B4-BE49-F238E27FC236}">
                <a16:creationId xmlns:a16="http://schemas.microsoft.com/office/drawing/2014/main" id="{72449E9E-6824-4E74-AAF9-5677735870B8}"/>
              </a:ext>
            </a:extLst>
          </p:cNvPr>
          <p:cNvSpPr>
            <a:spLocks noGrp="1"/>
          </p:cNvSpPr>
          <p:nvPr/>
        </p:nvSpPr>
        <p:spPr>
          <a:xfrm>
            <a:off x="9334500" y="2209800"/>
            <a:ext cx="1714500" cy="1447800"/>
          </a:xfrm>
          <a:prstGeom prst="roundRect">
            <a:avLst>
              <a:gd name="adj" fmla="val 10526"/>
            </a:avLst>
          </a:prstGeom>
          <a:solidFill>
            <a:srgbClr val="FFF7ED"/>
          </a:solidFill>
          <a:ln w="9525">
            <a:solidFill>
              <a:srgbClr val="F6C98C"/>
            </a:solidFill>
            <a:prstDash val="solid"/>
          </a:ln>
        </p:spPr>
        <p:txBody>
          <a:bodyPr/>
          <a:lstStyle/>
          <a:p>
            <a:endParaRPr lang="en-GB"/>
          </a:p>
        </p:txBody>
      </p:sp>
      <p:sp>
        <p:nvSpPr>
          <p:cNvPr id="16" name="Dikdörtgen 15">
            <a:extLst>
              <a:ext uri="{FF2B5EF4-FFF2-40B4-BE49-F238E27FC236}">
                <a16:creationId xmlns:a16="http://schemas.microsoft.com/office/drawing/2014/main" id="{40565F5B-15A2-4E9B-9143-BEB583758149}"/>
              </a:ext>
            </a:extLst>
          </p:cNvPr>
          <p:cNvSpPr>
            <a:spLocks noGrp="1"/>
          </p:cNvSpPr>
          <p:nvPr/>
        </p:nvSpPr>
        <p:spPr>
          <a:xfrm>
            <a:off x="9525000" y="2447925"/>
            <a:ext cx="1333500" cy="323850"/>
          </a:xfrm>
          <a:prstGeom prst="rect">
            <a:avLst/>
          </a:prstGeom>
          <a:noFill/>
          <a:ln w="0">
            <a:noFill/>
            <a:prstDash val="solid"/>
          </a:ln>
        </p:spPr>
        <p:txBody>
          <a:bodyPr/>
          <a:lstStyle/>
          <a:p>
            <a:pPr>
              <a:defRPr sz="1875" b="1">
                <a:solidFill>
                  <a:srgbClr val="D97706"/>
                </a:solidFill>
              </a:defRPr>
            </a:pPr>
            <a:r>
              <a:rPr sz="1875" b="1">
                <a:solidFill>
                  <a:srgbClr val="D97706"/>
                </a:solidFill>
              </a:rPr>
              <a:t>18 runs</a:t>
            </a:r>
          </a:p>
        </p:txBody>
      </p:sp>
      <p:sp>
        <p:nvSpPr>
          <p:cNvPr id="17" name="Dikdörtgen 16">
            <a:extLst>
              <a:ext uri="{FF2B5EF4-FFF2-40B4-BE49-F238E27FC236}">
                <a16:creationId xmlns:a16="http://schemas.microsoft.com/office/drawing/2014/main" id="{26327815-878E-456B-BF70-E233EAB1BF31}"/>
              </a:ext>
            </a:extLst>
          </p:cNvPr>
          <p:cNvSpPr>
            <a:spLocks noGrp="1"/>
          </p:cNvSpPr>
          <p:nvPr/>
        </p:nvSpPr>
        <p:spPr>
          <a:xfrm>
            <a:off x="9477375" y="2905125"/>
            <a:ext cx="1428750" cy="638175"/>
          </a:xfrm>
          <a:prstGeom prst="rect">
            <a:avLst/>
          </a:prstGeom>
          <a:noFill/>
          <a:ln w="0">
            <a:noFill/>
            <a:prstDash val="solid"/>
          </a:ln>
        </p:spPr>
        <p:txBody>
          <a:bodyPr/>
          <a:lstStyle/>
          <a:p>
            <a:pPr>
              <a:defRPr sz="1125" b="0">
                <a:solidFill>
                  <a:srgbClr val="52667A"/>
                </a:solidFill>
              </a:defRPr>
            </a:pPr>
            <a:r>
              <a:rPr sz="1125" b="0">
                <a:solidFill>
                  <a:srgbClr val="52667A"/>
                </a:solidFill>
              </a:rPr>
              <a:t>17 @ 10 ns</a:t>
            </a:r>
          </a:p>
          <a:p>
            <a:pPr>
              <a:defRPr sz="1125" b="0">
                <a:solidFill>
                  <a:srgbClr val="52667A"/>
                </a:solidFill>
              </a:defRPr>
            </a:pPr>
            <a:r>
              <a:rPr sz="1125" b="0">
                <a:solidFill>
                  <a:srgbClr val="52667A"/>
                </a:solidFill>
              </a:rPr>
              <a:t>+ 1 aggressive-clock</a:t>
            </a:r>
          </a:p>
        </p:txBody>
      </p:sp>
      <p:sp>
        <p:nvSpPr>
          <p:cNvPr id="18" name="Dikdörtgen 17">
            <a:extLst>
              <a:ext uri="{FF2B5EF4-FFF2-40B4-BE49-F238E27FC236}">
                <a16:creationId xmlns:a16="http://schemas.microsoft.com/office/drawing/2014/main" id="{5DA254FE-3D2E-4600-A8DD-61E14107C5B7}"/>
              </a:ext>
            </a:extLst>
          </p:cNvPr>
          <p:cNvSpPr>
            <a:spLocks noGrp="1"/>
          </p:cNvSpPr>
          <p:nvPr/>
        </p:nvSpPr>
        <p:spPr>
          <a:xfrm>
            <a:off x="809625" y="4333875"/>
            <a:ext cx="9953625" cy="342900"/>
          </a:xfrm>
          <a:prstGeom prst="rect">
            <a:avLst/>
          </a:prstGeom>
          <a:noFill/>
          <a:ln w="0">
            <a:noFill/>
            <a:prstDash val="solid"/>
          </a:ln>
        </p:spPr>
        <p:txBody>
          <a:bodyPr/>
          <a:lstStyle/>
          <a:p>
            <a:pPr>
              <a:defRPr sz="1725" b="1">
                <a:solidFill>
                  <a:srgbClr val="172B4D"/>
                </a:solidFill>
              </a:defRPr>
            </a:pPr>
            <a:r>
              <a:rPr sz="1725" b="1">
                <a:solidFill>
                  <a:srgbClr val="172B4D"/>
                </a:solidFill>
              </a:rPr>
              <a:t>The supervised regression problem is deliberately small because final backend outputs are the expensive labels.</a:t>
            </a:r>
          </a:p>
        </p:txBody>
      </p:sp>
      <p:sp>
        <p:nvSpPr>
          <p:cNvPr id="19" name="Dikdörtgen 18">
            <a:extLst>
              <a:ext uri="{FF2B5EF4-FFF2-40B4-BE49-F238E27FC236}">
                <a16:creationId xmlns:a16="http://schemas.microsoft.com/office/drawing/2014/main" id="{08076FBC-3AC6-4507-916B-B5FFF6701C52}"/>
              </a:ext>
            </a:extLst>
          </p:cNvPr>
          <p:cNvSpPr>
            <a:spLocks noGrp="1"/>
          </p:cNvSpPr>
          <p:nvPr/>
        </p:nvSpPr>
        <p:spPr>
          <a:xfrm>
            <a:off x="809625" y="4857750"/>
            <a:ext cx="9953625" cy="323850"/>
          </a:xfrm>
          <a:prstGeom prst="rect">
            <a:avLst/>
          </a:prstGeom>
          <a:noFill/>
          <a:ln w="0">
            <a:noFill/>
            <a:prstDash val="solid"/>
          </a:ln>
        </p:spPr>
        <p:txBody>
          <a:bodyPr/>
          <a:lstStyle/>
          <a:p>
            <a:pPr>
              <a:defRPr sz="1575" b="1">
                <a:solidFill>
                  <a:srgbClr val="C62828"/>
                </a:solidFill>
              </a:defRPr>
            </a:pPr>
            <a:r>
              <a:rPr sz="1575" b="1">
                <a:solidFill>
                  <a:srgbClr val="C62828"/>
                </a:solidFill>
              </a:rPr>
              <a:t>Interpret results as an initial feasibility study - not a production predictor.</a:t>
            </a:r>
          </a:p>
        </p:txBody>
      </p:sp>
      <p:sp>
        <p:nvSpPr>
          <p:cNvPr id="20" name="Dikdörtgen 19">
            <a:extLst>
              <a:ext uri="{FF2B5EF4-FFF2-40B4-BE49-F238E27FC236}">
                <a16:creationId xmlns:a16="http://schemas.microsoft.com/office/drawing/2014/main" id="{D2EF02AA-38BE-404B-AC72-7C865A3AA8B5}"/>
              </a:ext>
            </a:extLst>
          </p:cNvPr>
          <p:cNvSpPr>
            <a:spLocks noGrp="1"/>
          </p:cNvSpPr>
          <p:nvPr/>
        </p:nvSpPr>
        <p:spPr>
          <a:xfrm>
            <a:off x="666750" y="6477000"/>
            <a:ext cx="7143750" cy="171450"/>
          </a:xfrm>
          <a:prstGeom prst="rect">
            <a:avLst/>
          </a:prstGeom>
          <a:noFill/>
          <a:ln w="0">
            <a:noFill/>
            <a:prstDash val="solid"/>
          </a:ln>
        </p:spPr>
        <p:txBody>
          <a:bodyPr/>
          <a:lstStyle/>
          <a:p>
            <a:pPr>
              <a:defRPr sz="825" b="0">
                <a:solidFill>
                  <a:srgbClr val="7A8795"/>
                </a:solidFill>
              </a:defRPr>
            </a:pPr>
            <a:r>
              <a:rPr sz="825" b="0">
                <a:solidFill>
                  <a:srgbClr val="7A8795"/>
                </a:solidFill>
              </a:rPr>
              <a:t>Advanced Computer Architectures | Politecnico di Milano</a:t>
            </a:r>
          </a:p>
        </p:txBody>
      </p:sp>
      <p:sp>
        <p:nvSpPr>
          <p:cNvPr id="21" name="Dikdörtgen 20">
            <a:extLst>
              <a:ext uri="{FF2B5EF4-FFF2-40B4-BE49-F238E27FC236}">
                <a16:creationId xmlns:a16="http://schemas.microsoft.com/office/drawing/2014/main" id="{8F1CDC35-6139-4060-A4A2-0993BA6BE9B4}"/>
              </a:ext>
            </a:extLst>
          </p:cNvPr>
          <p:cNvSpPr>
            <a:spLocks noGrp="1"/>
          </p:cNvSpPr>
          <p:nvPr/>
        </p:nvSpPr>
        <p:spPr>
          <a:xfrm>
            <a:off x="10782300" y="6477000"/>
            <a:ext cx="742950" cy="171450"/>
          </a:xfrm>
          <a:prstGeom prst="rect">
            <a:avLst/>
          </a:prstGeom>
          <a:noFill/>
          <a:ln w="0">
            <a:noFill/>
            <a:prstDash val="solid"/>
          </a:ln>
        </p:spPr>
        <p:txBody>
          <a:bodyPr/>
          <a:lstStyle/>
          <a:p>
            <a:pPr>
              <a:defRPr sz="825" b="0">
                <a:solidFill>
                  <a:srgbClr val="7A8795"/>
                </a:solidFill>
              </a:defRPr>
            </a:pPr>
            <a:r>
              <a:rPr sz="825" b="0">
                <a:solidFill>
                  <a:srgbClr val="7A8795"/>
                </a:solidFill>
              </a:rPr>
              <a:t>4 / 10</a:t>
            </a:r>
          </a:p>
        </p:txBody>
      </p:sp>
    </p:spTree>
    <p:extLst>
      <p:ext uri="{BB962C8B-B14F-4D97-AF65-F5344CB8AC3E}">
        <p14:creationId xmlns:p14="http://schemas.microsoft.com/office/powerpoint/2010/main" val="1563709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Dikdörtgen 23">
            <a:extLst>
              <a:ext uri="{FF2B5EF4-FFF2-40B4-BE49-F238E27FC236}">
                <a16:creationId xmlns:a16="http://schemas.microsoft.com/office/drawing/2014/main" id="{59194750-5831-4C64-AF8F-AD2ECE767271}"/>
              </a:ext>
            </a:extLst>
          </p:cNvPr>
          <p:cNvSpPr>
            <a:spLocks noGrp="1"/>
          </p:cNvSpPr>
          <p:nvPr/>
        </p:nvSpPr>
        <p:spPr>
          <a:xfrm>
            <a:off x="666750" y="400050"/>
            <a:ext cx="495300" cy="228600"/>
          </a:xfrm>
          <a:prstGeom prst="rect">
            <a:avLst/>
          </a:prstGeom>
          <a:noFill/>
          <a:ln w="0">
            <a:noFill/>
            <a:prstDash val="solid"/>
          </a:ln>
        </p:spPr>
        <p:txBody>
          <a:bodyPr/>
          <a:lstStyle/>
          <a:p>
            <a:pPr>
              <a:defRPr sz="1050" b="1">
                <a:solidFill>
                  <a:srgbClr val="C62828"/>
                </a:solidFill>
              </a:defRPr>
            </a:pPr>
            <a:r>
              <a:rPr sz="1050" b="1">
                <a:solidFill>
                  <a:srgbClr val="C62828"/>
                </a:solidFill>
              </a:rPr>
              <a:t>05</a:t>
            </a:r>
          </a:p>
        </p:txBody>
      </p:sp>
      <p:sp>
        <p:nvSpPr>
          <p:cNvPr id="2" name="Dikdörtgen 1">
            <a:extLst>
              <a:ext uri="{FF2B5EF4-FFF2-40B4-BE49-F238E27FC236}">
                <a16:creationId xmlns:a16="http://schemas.microsoft.com/office/drawing/2014/main" id="{4B54F670-AA03-4EBB-83CB-C708D7F1D6EE}"/>
              </a:ext>
            </a:extLst>
          </p:cNvPr>
          <p:cNvSpPr>
            <a:spLocks noGrp="1"/>
          </p:cNvSpPr>
          <p:nvPr/>
        </p:nvSpPr>
        <p:spPr>
          <a:xfrm>
            <a:off x="666750" y="666750"/>
            <a:ext cx="10096500" cy="495300"/>
          </a:xfrm>
          <a:prstGeom prst="rect">
            <a:avLst/>
          </a:prstGeom>
          <a:noFill/>
          <a:ln w="0">
            <a:noFill/>
            <a:prstDash val="solid"/>
          </a:ln>
        </p:spPr>
        <p:txBody>
          <a:bodyPr/>
          <a:lstStyle/>
          <a:p>
            <a:pPr>
              <a:defRPr sz="2550" b="1">
                <a:solidFill>
                  <a:srgbClr val="102A43"/>
                </a:solidFill>
              </a:defRPr>
            </a:pPr>
            <a:r>
              <a:rPr sz="2550" b="1">
                <a:solidFill>
                  <a:srgbClr val="102A43"/>
                </a:solidFill>
              </a:rPr>
              <a:t>Early inputs, final targets, and leakage prevention</a:t>
            </a:r>
          </a:p>
        </p:txBody>
      </p:sp>
      <p:sp>
        <p:nvSpPr>
          <p:cNvPr id="3" name="Dikdörtgen 2">
            <a:extLst>
              <a:ext uri="{FF2B5EF4-FFF2-40B4-BE49-F238E27FC236}">
                <a16:creationId xmlns:a16="http://schemas.microsoft.com/office/drawing/2014/main" id="{7159F89A-B1F6-47A9-A2D3-0414B914E636}"/>
              </a:ext>
            </a:extLst>
          </p:cNvPr>
          <p:cNvSpPr>
            <a:spLocks noGrp="1"/>
          </p:cNvSpPr>
          <p:nvPr/>
        </p:nvSpPr>
        <p:spPr>
          <a:xfrm>
            <a:off x="666750" y="1543050"/>
            <a:ext cx="10858500" cy="19050"/>
          </a:xfrm>
          <a:prstGeom prst="rect">
            <a:avLst/>
          </a:prstGeom>
          <a:solidFill>
            <a:srgbClr val="C62828"/>
          </a:solidFill>
          <a:ln w="0">
            <a:noFill/>
            <a:prstDash val="solid"/>
          </a:ln>
        </p:spPr>
        <p:txBody>
          <a:bodyPr/>
          <a:lstStyle/>
          <a:p>
            <a:endParaRPr lang="en-GB"/>
          </a:p>
        </p:txBody>
      </p:sp>
      <p:sp>
        <p:nvSpPr>
          <p:cNvPr id="4" name="Dikdörtgen: Köşeleri Yuvarlatılmış 3">
            <a:extLst>
              <a:ext uri="{FF2B5EF4-FFF2-40B4-BE49-F238E27FC236}">
                <a16:creationId xmlns:a16="http://schemas.microsoft.com/office/drawing/2014/main" id="{A78DD8E4-BE86-411F-B6F2-7110384D132A}"/>
              </a:ext>
            </a:extLst>
          </p:cNvPr>
          <p:cNvSpPr>
            <a:spLocks noGrp="1"/>
          </p:cNvSpPr>
          <p:nvPr/>
        </p:nvSpPr>
        <p:spPr>
          <a:xfrm>
            <a:off x="666750" y="1952625"/>
            <a:ext cx="5619750" cy="3238500"/>
          </a:xfrm>
          <a:prstGeom prst="roundRect">
            <a:avLst>
              <a:gd name="adj" fmla="val 4706"/>
            </a:avLst>
          </a:prstGeom>
          <a:solidFill>
            <a:srgbClr val="F3F6F8"/>
          </a:solidFill>
          <a:ln w="9525">
            <a:solidFill>
              <a:srgbClr val="D7E0E8"/>
            </a:solidFill>
            <a:prstDash val="solid"/>
          </a:ln>
        </p:spPr>
        <p:txBody>
          <a:bodyPr/>
          <a:lstStyle/>
          <a:p>
            <a:endParaRPr lang="en-GB"/>
          </a:p>
        </p:txBody>
      </p:sp>
      <p:sp>
        <p:nvSpPr>
          <p:cNvPr id="5" name="Dikdörtgen 4">
            <a:extLst>
              <a:ext uri="{FF2B5EF4-FFF2-40B4-BE49-F238E27FC236}">
                <a16:creationId xmlns:a16="http://schemas.microsoft.com/office/drawing/2014/main" id="{0B18ADAC-E7C7-4845-89C7-0BAB42D77C9E}"/>
              </a:ext>
            </a:extLst>
          </p:cNvPr>
          <p:cNvSpPr>
            <a:spLocks noGrp="1"/>
          </p:cNvSpPr>
          <p:nvPr/>
        </p:nvSpPr>
        <p:spPr>
          <a:xfrm>
            <a:off x="933450" y="2209800"/>
            <a:ext cx="4191000" cy="266700"/>
          </a:xfrm>
          <a:prstGeom prst="rect">
            <a:avLst/>
          </a:prstGeom>
          <a:noFill/>
          <a:ln w="0">
            <a:noFill/>
            <a:prstDash val="solid"/>
          </a:ln>
        </p:spPr>
        <p:txBody>
          <a:bodyPr/>
          <a:lstStyle/>
          <a:p>
            <a:pPr>
              <a:defRPr sz="1575" b="1">
                <a:solidFill>
                  <a:srgbClr val="102A43"/>
                </a:solidFill>
              </a:defRPr>
            </a:pPr>
            <a:r>
              <a:rPr sz="1575" b="1">
                <a:solidFill>
                  <a:srgbClr val="102A43"/>
                </a:solidFill>
              </a:rPr>
              <a:t>Valid pre-OpenROAD feature groups</a:t>
            </a:r>
          </a:p>
        </p:txBody>
      </p:sp>
      <p:sp>
        <p:nvSpPr>
          <p:cNvPr id="6" name="Dikdörtgen 5">
            <a:extLst>
              <a:ext uri="{FF2B5EF4-FFF2-40B4-BE49-F238E27FC236}">
                <a16:creationId xmlns:a16="http://schemas.microsoft.com/office/drawing/2014/main" id="{39DCE9E4-18B9-48BE-8467-1036EDB74FC0}"/>
              </a:ext>
            </a:extLst>
          </p:cNvPr>
          <p:cNvSpPr>
            <a:spLocks noGrp="1"/>
          </p:cNvSpPr>
          <p:nvPr/>
        </p:nvSpPr>
        <p:spPr>
          <a:xfrm>
            <a:off x="933450" y="2657475"/>
            <a:ext cx="171450" cy="285750"/>
          </a:xfrm>
          <a:prstGeom prst="rect">
            <a:avLst/>
          </a:prstGeom>
          <a:noFill/>
          <a:ln w="0">
            <a:noFill/>
            <a:prstDash val="solid"/>
          </a:ln>
        </p:spPr>
        <p:txBody>
          <a:bodyPr/>
          <a:lstStyle/>
          <a:p>
            <a:pPr>
              <a:defRPr sz="1350" b="1">
                <a:solidFill>
                  <a:srgbClr val="C62828"/>
                </a:solidFill>
              </a:defRPr>
            </a:pPr>
            <a:r>
              <a:rPr sz="1350" b="1">
                <a:solidFill>
                  <a:srgbClr val="C62828"/>
                </a:solidFill>
              </a:rPr>
              <a:t>•</a:t>
            </a:r>
          </a:p>
        </p:txBody>
      </p:sp>
      <p:sp>
        <p:nvSpPr>
          <p:cNvPr id="7" name="Dikdörtgen 6">
            <a:extLst>
              <a:ext uri="{FF2B5EF4-FFF2-40B4-BE49-F238E27FC236}">
                <a16:creationId xmlns:a16="http://schemas.microsoft.com/office/drawing/2014/main" id="{041098A3-FD2A-44FD-94C8-8DAB1D7698AB}"/>
              </a:ext>
            </a:extLst>
          </p:cNvPr>
          <p:cNvSpPr>
            <a:spLocks noGrp="1"/>
          </p:cNvSpPr>
          <p:nvPr/>
        </p:nvSpPr>
        <p:spPr>
          <a:xfrm>
            <a:off x="1162050" y="2657475"/>
            <a:ext cx="4724400" cy="342900"/>
          </a:xfrm>
          <a:prstGeom prst="rect">
            <a:avLst/>
          </a:prstGeom>
          <a:noFill/>
          <a:ln w="0">
            <a:noFill/>
            <a:prstDash val="solid"/>
          </a:ln>
        </p:spPr>
        <p:txBody>
          <a:bodyPr/>
          <a:lstStyle/>
          <a:p>
            <a:pPr>
              <a:defRPr sz="1350" b="0">
                <a:solidFill>
                  <a:srgbClr val="172B4D"/>
                </a:solidFill>
              </a:defRPr>
            </a:pPr>
            <a:r>
              <a:rPr sz="1350" b="0">
                <a:solidFill>
                  <a:srgbClr val="172B4D"/>
                </a:solidFill>
              </a:rPr>
              <a:t>configuration: clock, dataset size, memory policy, DSP, optimization</a:t>
            </a:r>
          </a:p>
        </p:txBody>
      </p:sp>
      <p:sp>
        <p:nvSpPr>
          <p:cNvPr id="8" name="Dikdörtgen 7">
            <a:extLst>
              <a:ext uri="{FF2B5EF4-FFF2-40B4-BE49-F238E27FC236}">
                <a16:creationId xmlns:a16="http://schemas.microsoft.com/office/drawing/2014/main" id="{6D93D22B-4D90-4F12-8716-F0A3CCD21905}"/>
              </a:ext>
            </a:extLst>
          </p:cNvPr>
          <p:cNvSpPr>
            <a:spLocks noGrp="1"/>
          </p:cNvSpPr>
          <p:nvPr/>
        </p:nvSpPr>
        <p:spPr>
          <a:xfrm>
            <a:off x="933450" y="3171825"/>
            <a:ext cx="171450" cy="285750"/>
          </a:xfrm>
          <a:prstGeom prst="rect">
            <a:avLst/>
          </a:prstGeom>
          <a:noFill/>
          <a:ln w="0">
            <a:noFill/>
            <a:prstDash val="solid"/>
          </a:ln>
        </p:spPr>
        <p:txBody>
          <a:bodyPr/>
          <a:lstStyle/>
          <a:p>
            <a:pPr>
              <a:defRPr sz="1350" b="1">
                <a:solidFill>
                  <a:srgbClr val="C62828"/>
                </a:solidFill>
              </a:defRPr>
            </a:pPr>
            <a:r>
              <a:rPr sz="1350" b="1">
                <a:solidFill>
                  <a:srgbClr val="C62828"/>
                </a:solidFill>
              </a:rPr>
              <a:t>•</a:t>
            </a:r>
          </a:p>
        </p:txBody>
      </p:sp>
      <p:sp>
        <p:nvSpPr>
          <p:cNvPr id="9" name="Dikdörtgen 8">
            <a:extLst>
              <a:ext uri="{FF2B5EF4-FFF2-40B4-BE49-F238E27FC236}">
                <a16:creationId xmlns:a16="http://schemas.microsoft.com/office/drawing/2014/main" id="{AC0CD93C-FE89-4E6B-9104-D966A887E40F}"/>
              </a:ext>
            </a:extLst>
          </p:cNvPr>
          <p:cNvSpPr>
            <a:spLocks noGrp="1"/>
          </p:cNvSpPr>
          <p:nvPr/>
        </p:nvSpPr>
        <p:spPr>
          <a:xfrm>
            <a:off x="1162050" y="3171825"/>
            <a:ext cx="4724400" cy="342900"/>
          </a:xfrm>
          <a:prstGeom prst="rect">
            <a:avLst/>
          </a:prstGeom>
          <a:noFill/>
          <a:ln w="0">
            <a:noFill/>
            <a:prstDash val="solid"/>
          </a:ln>
        </p:spPr>
        <p:txBody>
          <a:bodyPr/>
          <a:lstStyle/>
          <a:p>
            <a:pPr>
              <a:defRPr sz="1350" b="0">
                <a:solidFill>
                  <a:srgbClr val="172B4D"/>
                </a:solidFill>
              </a:defRPr>
            </a:pPr>
            <a:r>
              <a:rPr sz="1350" b="0">
                <a:solidFill>
                  <a:srgbClr val="172B4D"/>
                </a:solidFill>
              </a:rPr>
              <a:t>static C: lines, loops, branches, accesses, operations</a:t>
            </a:r>
          </a:p>
        </p:txBody>
      </p:sp>
      <p:sp>
        <p:nvSpPr>
          <p:cNvPr id="10" name="Dikdörtgen 9">
            <a:extLst>
              <a:ext uri="{FF2B5EF4-FFF2-40B4-BE49-F238E27FC236}">
                <a16:creationId xmlns:a16="http://schemas.microsoft.com/office/drawing/2014/main" id="{581542B2-FA4F-4DB8-8FF2-2CA1792D22D6}"/>
              </a:ext>
            </a:extLst>
          </p:cNvPr>
          <p:cNvSpPr>
            <a:spLocks noGrp="1"/>
          </p:cNvSpPr>
          <p:nvPr/>
        </p:nvSpPr>
        <p:spPr>
          <a:xfrm>
            <a:off x="933450" y="3686175"/>
            <a:ext cx="171450" cy="285750"/>
          </a:xfrm>
          <a:prstGeom prst="rect">
            <a:avLst/>
          </a:prstGeom>
          <a:noFill/>
          <a:ln w="0">
            <a:noFill/>
            <a:prstDash val="solid"/>
          </a:ln>
        </p:spPr>
        <p:txBody>
          <a:bodyPr/>
          <a:lstStyle/>
          <a:p>
            <a:pPr>
              <a:defRPr sz="1350" b="1">
                <a:solidFill>
                  <a:srgbClr val="C62828"/>
                </a:solidFill>
              </a:defRPr>
            </a:pPr>
            <a:r>
              <a:rPr sz="1350" b="1">
                <a:solidFill>
                  <a:srgbClr val="C62828"/>
                </a:solidFill>
              </a:rPr>
              <a:t>•</a:t>
            </a:r>
          </a:p>
        </p:txBody>
      </p:sp>
      <p:sp>
        <p:nvSpPr>
          <p:cNvPr id="11" name="Dikdörtgen 10">
            <a:extLst>
              <a:ext uri="{FF2B5EF4-FFF2-40B4-BE49-F238E27FC236}">
                <a16:creationId xmlns:a16="http://schemas.microsoft.com/office/drawing/2014/main" id="{5AA0F82F-71EF-4B07-B148-CC73E8D665B5}"/>
              </a:ext>
            </a:extLst>
          </p:cNvPr>
          <p:cNvSpPr>
            <a:spLocks noGrp="1"/>
          </p:cNvSpPr>
          <p:nvPr/>
        </p:nvSpPr>
        <p:spPr>
          <a:xfrm>
            <a:off x="1162050" y="3686175"/>
            <a:ext cx="4724400" cy="342900"/>
          </a:xfrm>
          <a:prstGeom prst="rect">
            <a:avLst/>
          </a:prstGeom>
          <a:noFill/>
          <a:ln w="0">
            <a:noFill/>
            <a:prstDash val="solid"/>
          </a:ln>
        </p:spPr>
        <p:txBody>
          <a:bodyPr/>
          <a:lstStyle/>
          <a:p>
            <a:pPr>
              <a:defRPr sz="1350" b="0">
                <a:solidFill>
                  <a:srgbClr val="172B4D"/>
                </a:solidFill>
              </a:defRPr>
            </a:pPr>
            <a:r>
              <a:rPr sz="1350" b="0">
                <a:solidFill>
                  <a:srgbClr val="172B4D"/>
                </a:solidFill>
              </a:rPr>
              <a:t>Bambu/HLS: control steps, states, area estimate, registers, mux area</a:t>
            </a:r>
          </a:p>
        </p:txBody>
      </p:sp>
      <p:sp>
        <p:nvSpPr>
          <p:cNvPr id="12" name="Dikdörtgen 11">
            <a:extLst>
              <a:ext uri="{FF2B5EF4-FFF2-40B4-BE49-F238E27FC236}">
                <a16:creationId xmlns:a16="http://schemas.microsoft.com/office/drawing/2014/main" id="{9BB9B8C7-0EF2-4233-BAF4-6E3EABD576E2}"/>
              </a:ext>
            </a:extLst>
          </p:cNvPr>
          <p:cNvSpPr>
            <a:spLocks noGrp="1"/>
          </p:cNvSpPr>
          <p:nvPr/>
        </p:nvSpPr>
        <p:spPr>
          <a:xfrm>
            <a:off x="933450" y="4200525"/>
            <a:ext cx="171450" cy="285750"/>
          </a:xfrm>
          <a:prstGeom prst="rect">
            <a:avLst/>
          </a:prstGeom>
          <a:noFill/>
          <a:ln w="0">
            <a:noFill/>
            <a:prstDash val="solid"/>
          </a:ln>
        </p:spPr>
        <p:txBody>
          <a:bodyPr/>
          <a:lstStyle/>
          <a:p>
            <a:pPr>
              <a:defRPr sz="1350" b="1">
                <a:solidFill>
                  <a:srgbClr val="C62828"/>
                </a:solidFill>
              </a:defRPr>
            </a:pPr>
            <a:r>
              <a:rPr sz="1350" b="1">
                <a:solidFill>
                  <a:srgbClr val="C62828"/>
                </a:solidFill>
              </a:rPr>
              <a:t>•</a:t>
            </a:r>
          </a:p>
        </p:txBody>
      </p:sp>
      <p:sp>
        <p:nvSpPr>
          <p:cNvPr id="13" name="Dikdörtgen 12">
            <a:extLst>
              <a:ext uri="{FF2B5EF4-FFF2-40B4-BE49-F238E27FC236}">
                <a16:creationId xmlns:a16="http://schemas.microsoft.com/office/drawing/2014/main" id="{35E2AE47-35CD-48F2-BDD3-F1CD056888DD}"/>
              </a:ext>
            </a:extLst>
          </p:cNvPr>
          <p:cNvSpPr>
            <a:spLocks noGrp="1"/>
          </p:cNvSpPr>
          <p:nvPr/>
        </p:nvSpPr>
        <p:spPr>
          <a:xfrm>
            <a:off x="1162050" y="4200525"/>
            <a:ext cx="4724400" cy="342900"/>
          </a:xfrm>
          <a:prstGeom prst="rect">
            <a:avLst/>
          </a:prstGeom>
          <a:noFill/>
          <a:ln w="0">
            <a:noFill/>
            <a:prstDash val="solid"/>
          </a:ln>
        </p:spPr>
        <p:txBody>
          <a:bodyPr/>
          <a:lstStyle/>
          <a:p>
            <a:pPr>
              <a:defRPr sz="1350" b="0">
                <a:solidFill>
                  <a:srgbClr val="172B4D"/>
                </a:solidFill>
              </a:defRPr>
            </a:pPr>
            <a:r>
              <a:rPr sz="1350" b="0">
                <a:solidFill>
                  <a:srgbClr val="172B4D"/>
                </a:solidFill>
              </a:rPr>
              <a:t>Yosys: wires, wire bits, cells, memories, processes, modules</a:t>
            </a:r>
          </a:p>
        </p:txBody>
      </p:sp>
      <p:sp>
        <p:nvSpPr>
          <p:cNvPr id="14" name="Dikdörtgen 13">
            <a:extLst>
              <a:ext uri="{FF2B5EF4-FFF2-40B4-BE49-F238E27FC236}">
                <a16:creationId xmlns:a16="http://schemas.microsoft.com/office/drawing/2014/main" id="{AA555F82-B234-4DA4-ACAE-B80919912CEB}"/>
              </a:ext>
            </a:extLst>
          </p:cNvPr>
          <p:cNvSpPr>
            <a:spLocks noGrp="1"/>
          </p:cNvSpPr>
          <p:nvPr/>
        </p:nvSpPr>
        <p:spPr>
          <a:xfrm>
            <a:off x="933450" y="4714875"/>
            <a:ext cx="171450" cy="285750"/>
          </a:xfrm>
          <a:prstGeom prst="rect">
            <a:avLst/>
          </a:prstGeom>
          <a:noFill/>
          <a:ln w="0">
            <a:noFill/>
            <a:prstDash val="solid"/>
          </a:ln>
        </p:spPr>
        <p:txBody>
          <a:bodyPr/>
          <a:lstStyle/>
          <a:p>
            <a:pPr>
              <a:defRPr sz="1350" b="1">
                <a:solidFill>
                  <a:srgbClr val="C62828"/>
                </a:solidFill>
              </a:defRPr>
            </a:pPr>
            <a:r>
              <a:rPr sz="1350" b="1">
                <a:solidFill>
                  <a:srgbClr val="C62828"/>
                </a:solidFill>
              </a:rPr>
              <a:t>•</a:t>
            </a:r>
          </a:p>
        </p:txBody>
      </p:sp>
      <p:sp>
        <p:nvSpPr>
          <p:cNvPr id="15" name="Dikdörtgen 14">
            <a:extLst>
              <a:ext uri="{FF2B5EF4-FFF2-40B4-BE49-F238E27FC236}">
                <a16:creationId xmlns:a16="http://schemas.microsoft.com/office/drawing/2014/main" id="{087F7BEE-894A-42D8-99EC-DAD248EB47C2}"/>
              </a:ext>
            </a:extLst>
          </p:cNvPr>
          <p:cNvSpPr>
            <a:spLocks noGrp="1"/>
          </p:cNvSpPr>
          <p:nvPr/>
        </p:nvSpPr>
        <p:spPr>
          <a:xfrm>
            <a:off x="1162050" y="4714875"/>
            <a:ext cx="4724400" cy="342900"/>
          </a:xfrm>
          <a:prstGeom prst="rect">
            <a:avLst/>
          </a:prstGeom>
          <a:noFill/>
          <a:ln w="0">
            <a:noFill/>
            <a:prstDash val="solid"/>
          </a:ln>
        </p:spPr>
        <p:txBody>
          <a:bodyPr/>
          <a:lstStyle/>
          <a:p>
            <a:pPr>
              <a:defRPr sz="1350" b="0">
                <a:solidFill>
                  <a:srgbClr val="172B4D"/>
                </a:solidFill>
              </a:defRPr>
            </a:pPr>
            <a:r>
              <a:rPr sz="1350" b="0">
                <a:solidFill>
                  <a:srgbClr val="172B4D"/>
                </a:solidFill>
              </a:rPr>
              <a:t>derived ratios from the same early information</a:t>
            </a:r>
          </a:p>
        </p:txBody>
      </p:sp>
      <p:sp>
        <p:nvSpPr>
          <p:cNvPr id="16" name="Dikdörtgen: Köşeleri Yuvarlatılmış 15">
            <a:extLst>
              <a:ext uri="{FF2B5EF4-FFF2-40B4-BE49-F238E27FC236}">
                <a16:creationId xmlns:a16="http://schemas.microsoft.com/office/drawing/2014/main" id="{2655EDCF-0CF7-4B52-BB19-7AADB348F162}"/>
              </a:ext>
            </a:extLst>
          </p:cNvPr>
          <p:cNvSpPr>
            <a:spLocks noGrp="1"/>
          </p:cNvSpPr>
          <p:nvPr/>
        </p:nvSpPr>
        <p:spPr>
          <a:xfrm>
            <a:off x="6762750" y="1952625"/>
            <a:ext cx="4095750" cy="1619250"/>
          </a:xfrm>
          <a:prstGeom prst="roundRect">
            <a:avLst>
              <a:gd name="adj" fmla="val 9412"/>
            </a:avLst>
          </a:prstGeom>
          <a:solidFill>
            <a:srgbClr val="FFFFFF"/>
          </a:solidFill>
          <a:ln w="9525">
            <a:solidFill>
              <a:srgbClr val="D7E0E8"/>
            </a:solidFill>
            <a:prstDash val="solid"/>
          </a:ln>
        </p:spPr>
        <p:txBody>
          <a:bodyPr/>
          <a:lstStyle/>
          <a:p>
            <a:endParaRPr lang="en-GB"/>
          </a:p>
        </p:txBody>
      </p:sp>
      <p:sp>
        <p:nvSpPr>
          <p:cNvPr id="17" name="Dikdörtgen 16">
            <a:extLst>
              <a:ext uri="{FF2B5EF4-FFF2-40B4-BE49-F238E27FC236}">
                <a16:creationId xmlns:a16="http://schemas.microsoft.com/office/drawing/2014/main" id="{2B0B69D1-F6FB-451D-8058-52A987BEBFEE}"/>
              </a:ext>
            </a:extLst>
          </p:cNvPr>
          <p:cNvSpPr>
            <a:spLocks noGrp="1"/>
          </p:cNvSpPr>
          <p:nvPr/>
        </p:nvSpPr>
        <p:spPr>
          <a:xfrm>
            <a:off x="7048500" y="2209800"/>
            <a:ext cx="2381250" cy="266700"/>
          </a:xfrm>
          <a:prstGeom prst="rect">
            <a:avLst/>
          </a:prstGeom>
          <a:noFill/>
          <a:ln w="0">
            <a:noFill/>
            <a:prstDash val="solid"/>
          </a:ln>
        </p:spPr>
        <p:txBody>
          <a:bodyPr/>
          <a:lstStyle/>
          <a:p>
            <a:pPr>
              <a:defRPr sz="1575" b="1">
                <a:solidFill>
                  <a:srgbClr val="102A43"/>
                </a:solidFill>
              </a:defRPr>
            </a:pPr>
            <a:r>
              <a:rPr sz="1575" b="1">
                <a:solidFill>
                  <a:srgbClr val="102A43"/>
                </a:solidFill>
              </a:rPr>
              <a:t>Prediction targets</a:t>
            </a:r>
          </a:p>
        </p:txBody>
      </p:sp>
      <p:sp>
        <p:nvSpPr>
          <p:cNvPr id="18" name="Dikdörtgen 17">
            <a:extLst>
              <a:ext uri="{FF2B5EF4-FFF2-40B4-BE49-F238E27FC236}">
                <a16:creationId xmlns:a16="http://schemas.microsoft.com/office/drawing/2014/main" id="{DE9C7AE9-4D35-4E48-91FD-C12C10199EA9}"/>
              </a:ext>
            </a:extLst>
          </p:cNvPr>
          <p:cNvSpPr>
            <a:spLocks noGrp="1"/>
          </p:cNvSpPr>
          <p:nvPr/>
        </p:nvSpPr>
        <p:spPr>
          <a:xfrm>
            <a:off x="7048500" y="2571750"/>
            <a:ext cx="2857500" cy="762000"/>
          </a:xfrm>
          <a:prstGeom prst="rect">
            <a:avLst/>
          </a:prstGeom>
          <a:noFill/>
          <a:ln w="0">
            <a:noFill/>
            <a:prstDash val="solid"/>
          </a:ln>
        </p:spPr>
        <p:txBody>
          <a:bodyPr/>
          <a:lstStyle/>
          <a:p>
            <a:pPr>
              <a:defRPr sz="1500" b="0">
                <a:solidFill>
                  <a:srgbClr val="172B4D"/>
                </a:solidFill>
              </a:defRPr>
            </a:pPr>
            <a:r>
              <a:rPr sz="1500" b="0">
                <a:solidFill>
                  <a:srgbClr val="172B4D"/>
                </a:solidFill>
              </a:rPr>
              <a:t>Final ASIC area</a:t>
            </a:r>
          </a:p>
          <a:p>
            <a:pPr>
              <a:defRPr sz="1500" b="0">
                <a:solidFill>
                  <a:srgbClr val="172B4D"/>
                </a:solidFill>
              </a:defRPr>
            </a:pPr>
            <a:r>
              <a:rPr sz="1500" b="0">
                <a:solidFill>
                  <a:srgbClr val="172B4D"/>
                </a:solidFill>
              </a:rPr>
              <a:t>Critical-path delay</a:t>
            </a:r>
          </a:p>
          <a:p>
            <a:pPr>
              <a:defRPr sz="1500" b="0">
                <a:solidFill>
                  <a:srgbClr val="172B4D"/>
                </a:solidFill>
              </a:defRPr>
            </a:pPr>
            <a:r>
              <a:rPr sz="1500" b="0">
                <a:solidFill>
                  <a:srgbClr val="172B4D"/>
                </a:solidFill>
              </a:rPr>
              <a:t>Total power (exploratory)</a:t>
            </a:r>
          </a:p>
        </p:txBody>
      </p:sp>
      <p:sp>
        <p:nvSpPr>
          <p:cNvPr id="19" name="Dikdörtgen: Köşeleri Yuvarlatılmış 18">
            <a:extLst>
              <a:ext uri="{FF2B5EF4-FFF2-40B4-BE49-F238E27FC236}">
                <a16:creationId xmlns:a16="http://schemas.microsoft.com/office/drawing/2014/main" id="{421BAA26-A5D2-4681-92CD-3BF9272B608F}"/>
              </a:ext>
            </a:extLst>
          </p:cNvPr>
          <p:cNvSpPr>
            <a:spLocks noGrp="1"/>
          </p:cNvSpPr>
          <p:nvPr/>
        </p:nvSpPr>
        <p:spPr>
          <a:xfrm>
            <a:off x="6762750" y="3762375"/>
            <a:ext cx="4095750" cy="1619250"/>
          </a:xfrm>
          <a:prstGeom prst="roundRect">
            <a:avLst>
              <a:gd name="adj" fmla="val 9412"/>
            </a:avLst>
          </a:prstGeom>
          <a:solidFill>
            <a:srgbClr val="FFF1F2"/>
          </a:solidFill>
          <a:ln w="9525">
            <a:solidFill>
              <a:srgbClr val="F4B8BD"/>
            </a:solidFill>
            <a:prstDash val="solid"/>
          </a:ln>
        </p:spPr>
        <p:txBody>
          <a:bodyPr/>
          <a:lstStyle/>
          <a:p>
            <a:endParaRPr lang="en-GB"/>
          </a:p>
        </p:txBody>
      </p:sp>
      <p:sp>
        <p:nvSpPr>
          <p:cNvPr id="20" name="Dikdörtgen 19">
            <a:extLst>
              <a:ext uri="{FF2B5EF4-FFF2-40B4-BE49-F238E27FC236}">
                <a16:creationId xmlns:a16="http://schemas.microsoft.com/office/drawing/2014/main" id="{A0DB2B61-B4FE-4D88-84CB-B273B5863B74}"/>
              </a:ext>
            </a:extLst>
          </p:cNvPr>
          <p:cNvSpPr>
            <a:spLocks noGrp="1"/>
          </p:cNvSpPr>
          <p:nvPr/>
        </p:nvSpPr>
        <p:spPr>
          <a:xfrm>
            <a:off x="7048500" y="4019550"/>
            <a:ext cx="2095500" cy="266700"/>
          </a:xfrm>
          <a:prstGeom prst="rect">
            <a:avLst/>
          </a:prstGeom>
          <a:noFill/>
          <a:ln w="0">
            <a:noFill/>
            <a:prstDash val="solid"/>
          </a:ln>
        </p:spPr>
        <p:txBody>
          <a:bodyPr/>
          <a:lstStyle/>
          <a:p>
            <a:pPr>
              <a:defRPr sz="1575" b="1">
                <a:solidFill>
                  <a:srgbClr val="C62828"/>
                </a:solidFill>
              </a:defRPr>
            </a:pPr>
            <a:r>
              <a:rPr sz="1575" b="1">
                <a:solidFill>
                  <a:srgbClr val="C62828"/>
                </a:solidFill>
              </a:rPr>
              <a:t>Leakage rule</a:t>
            </a:r>
          </a:p>
        </p:txBody>
      </p:sp>
      <p:sp>
        <p:nvSpPr>
          <p:cNvPr id="21" name="Dikdörtgen 20">
            <a:extLst>
              <a:ext uri="{FF2B5EF4-FFF2-40B4-BE49-F238E27FC236}">
                <a16:creationId xmlns:a16="http://schemas.microsoft.com/office/drawing/2014/main" id="{F0613C25-02F5-453B-89C4-1B412B76BF25}"/>
              </a:ext>
            </a:extLst>
          </p:cNvPr>
          <p:cNvSpPr>
            <a:spLocks noGrp="1"/>
          </p:cNvSpPr>
          <p:nvPr/>
        </p:nvSpPr>
        <p:spPr>
          <a:xfrm>
            <a:off x="7048500" y="4400550"/>
            <a:ext cx="3143250" cy="781050"/>
          </a:xfrm>
          <a:prstGeom prst="rect">
            <a:avLst/>
          </a:prstGeom>
          <a:noFill/>
          <a:ln w="0">
            <a:noFill/>
            <a:prstDash val="solid"/>
          </a:ln>
        </p:spPr>
        <p:txBody>
          <a:bodyPr/>
          <a:lstStyle/>
          <a:p>
            <a:pPr>
              <a:defRPr sz="1275" b="0">
                <a:solidFill>
                  <a:srgbClr val="172B4D"/>
                </a:solidFill>
              </a:defRPr>
            </a:pPr>
            <a:r>
              <a:rPr sz="1275" b="0">
                <a:solidFill>
                  <a:srgbClr val="172B4D"/>
                </a:solidFill>
              </a:rPr>
              <a:t>Post-routing: analysis only.</a:t>
            </a:r>
          </a:p>
          <a:p>
            <a:pPr>
              <a:defRPr sz="1275" b="0">
                <a:solidFill>
                  <a:srgbClr val="172B4D"/>
                </a:solidFill>
              </a:defRPr>
            </a:pPr>
            <a:r>
              <a:rPr sz="1275" b="0">
                <a:solidFill>
                  <a:srgbClr val="172B4D"/>
                </a:solidFill>
              </a:rPr>
              <a:t>Violations, DEF wirelength,</a:t>
            </a:r>
          </a:p>
          <a:p>
            <a:pPr>
              <a:defRPr sz="1275" b="0">
                <a:solidFill>
                  <a:srgbClr val="172B4D"/>
                </a:solidFill>
              </a:defRPr>
            </a:pPr>
            <a:r>
              <a:rPr sz="1275" b="0">
                <a:solidFill>
                  <a:srgbClr val="172B4D"/>
                </a:solidFill>
              </a:rPr>
              <a:t>route guides, DRC.</a:t>
            </a:r>
          </a:p>
        </p:txBody>
      </p:sp>
      <p:sp>
        <p:nvSpPr>
          <p:cNvPr id="22" name="Dikdörtgen 21">
            <a:extLst>
              <a:ext uri="{FF2B5EF4-FFF2-40B4-BE49-F238E27FC236}">
                <a16:creationId xmlns:a16="http://schemas.microsoft.com/office/drawing/2014/main" id="{26BEB991-ADCA-4226-B22F-44CD5646CB42}"/>
              </a:ext>
            </a:extLst>
          </p:cNvPr>
          <p:cNvSpPr>
            <a:spLocks noGrp="1"/>
          </p:cNvSpPr>
          <p:nvPr/>
        </p:nvSpPr>
        <p:spPr>
          <a:xfrm>
            <a:off x="666750" y="6477000"/>
            <a:ext cx="7143750" cy="171450"/>
          </a:xfrm>
          <a:prstGeom prst="rect">
            <a:avLst/>
          </a:prstGeom>
          <a:noFill/>
          <a:ln w="0">
            <a:noFill/>
            <a:prstDash val="solid"/>
          </a:ln>
        </p:spPr>
        <p:txBody>
          <a:bodyPr/>
          <a:lstStyle/>
          <a:p>
            <a:pPr>
              <a:defRPr sz="825" b="0">
                <a:solidFill>
                  <a:srgbClr val="7A8795"/>
                </a:solidFill>
              </a:defRPr>
            </a:pPr>
            <a:r>
              <a:rPr sz="825" b="0">
                <a:solidFill>
                  <a:srgbClr val="7A8795"/>
                </a:solidFill>
              </a:rPr>
              <a:t>Advanced Computer Architectures | Politecnico di Milano</a:t>
            </a:r>
          </a:p>
        </p:txBody>
      </p:sp>
      <p:sp>
        <p:nvSpPr>
          <p:cNvPr id="23" name="Dikdörtgen 22">
            <a:extLst>
              <a:ext uri="{FF2B5EF4-FFF2-40B4-BE49-F238E27FC236}">
                <a16:creationId xmlns:a16="http://schemas.microsoft.com/office/drawing/2014/main" id="{AA39CF37-610C-4A4E-8685-435D4D413E6D}"/>
              </a:ext>
            </a:extLst>
          </p:cNvPr>
          <p:cNvSpPr>
            <a:spLocks noGrp="1"/>
          </p:cNvSpPr>
          <p:nvPr/>
        </p:nvSpPr>
        <p:spPr>
          <a:xfrm>
            <a:off x="10782300" y="6477000"/>
            <a:ext cx="742950" cy="171450"/>
          </a:xfrm>
          <a:prstGeom prst="rect">
            <a:avLst/>
          </a:prstGeom>
          <a:noFill/>
          <a:ln w="0">
            <a:noFill/>
            <a:prstDash val="solid"/>
          </a:ln>
        </p:spPr>
        <p:txBody>
          <a:bodyPr/>
          <a:lstStyle/>
          <a:p>
            <a:pPr>
              <a:defRPr sz="825" b="0">
                <a:solidFill>
                  <a:srgbClr val="7A8795"/>
                </a:solidFill>
              </a:defRPr>
            </a:pPr>
            <a:r>
              <a:rPr sz="825" b="0">
                <a:solidFill>
                  <a:srgbClr val="7A8795"/>
                </a:solidFill>
              </a:rPr>
              <a:t>5 / 10</a:t>
            </a:r>
          </a:p>
        </p:txBody>
      </p:sp>
    </p:spTree>
    <p:extLst>
      <p:ext uri="{BB962C8B-B14F-4D97-AF65-F5344CB8AC3E}">
        <p14:creationId xmlns:p14="http://schemas.microsoft.com/office/powerpoint/2010/main" val="1914443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Dikdörtgen 25">
            <a:extLst>
              <a:ext uri="{FF2B5EF4-FFF2-40B4-BE49-F238E27FC236}">
                <a16:creationId xmlns:a16="http://schemas.microsoft.com/office/drawing/2014/main" id="{C027E488-5934-416A-A0BD-759ACA9EA15D}"/>
              </a:ext>
            </a:extLst>
          </p:cNvPr>
          <p:cNvSpPr>
            <a:spLocks noGrp="1"/>
          </p:cNvSpPr>
          <p:nvPr/>
        </p:nvSpPr>
        <p:spPr>
          <a:xfrm>
            <a:off x="666750" y="400050"/>
            <a:ext cx="495300" cy="228600"/>
          </a:xfrm>
          <a:prstGeom prst="rect">
            <a:avLst/>
          </a:prstGeom>
          <a:noFill/>
          <a:ln w="0">
            <a:noFill/>
            <a:prstDash val="solid"/>
          </a:ln>
        </p:spPr>
        <p:txBody>
          <a:bodyPr/>
          <a:lstStyle/>
          <a:p>
            <a:pPr>
              <a:defRPr sz="1050" b="1">
                <a:solidFill>
                  <a:srgbClr val="C62828"/>
                </a:solidFill>
              </a:defRPr>
            </a:pPr>
            <a:r>
              <a:rPr sz="1050" b="1">
                <a:solidFill>
                  <a:srgbClr val="C62828"/>
                </a:solidFill>
              </a:rPr>
              <a:t>06</a:t>
            </a:r>
          </a:p>
        </p:txBody>
      </p:sp>
      <p:sp>
        <p:nvSpPr>
          <p:cNvPr id="2" name="Dikdörtgen 1">
            <a:extLst>
              <a:ext uri="{FF2B5EF4-FFF2-40B4-BE49-F238E27FC236}">
                <a16:creationId xmlns:a16="http://schemas.microsoft.com/office/drawing/2014/main" id="{4771FEF8-5EEB-4EFC-84C7-DA16BD50938A}"/>
              </a:ext>
            </a:extLst>
          </p:cNvPr>
          <p:cNvSpPr>
            <a:spLocks noGrp="1"/>
          </p:cNvSpPr>
          <p:nvPr/>
        </p:nvSpPr>
        <p:spPr>
          <a:xfrm>
            <a:off x="666750" y="666750"/>
            <a:ext cx="10096500" cy="495300"/>
          </a:xfrm>
          <a:prstGeom prst="rect">
            <a:avLst/>
          </a:prstGeom>
          <a:noFill/>
          <a:ln w="0">
            <a:noFill/>
            <a:prstDash val="solid"/>
          </a:ln>
        </p:spPr>
        <p:txBody>
          <a:bodyPr/>
          <a:lstStyle/>
          <a:p>
            <a:pPr>
              <a:defRPr sz="2550" b="1">
                <a:solidFill>
                  <a:srgbClr val="102A43"/>
                </a:solidFill>
              </a:defRPr>
            </a:pPr>
            <a:r>
              <a:rPr lang="en-GB" sz="2550" b="1" dirty="0"/>
              <a:t>Validation tests generalization to unseen benchmark kernels</a:t>
            </a:r>
            <a:endParaRPr sz="2550" b="1" dirty="0">
              <a:solidFill>
                <a:srgbClr val="102A43"/>
              </a:solidFill>
            </a:endParaRPr>
          </a:p>
        </p:txBody>
      </p:sp>
      <p:sp>
        <p:nvSpPr>
          <p:cNvPr id="3" name="Dikdörtgen 2">
            <a:extLst>
              <a:ext uri="{FF2B5EF4-FFF2-40B4-BE49-F238E27FC236}">
                <a16:creationId xmlns:a16="http://schemas.microsoft.com/office/drawing/2014/main" id="{D9260B5F-92AA-4D45-94B3-B52779194853}"/>
              </a:ext>
            </a:extLst>
          </p:cNvPr>
          <p:cNvSpPr>
            <a:spLocks noGrp="1"/>
          </p:cNvSpPr>
          <p:nvPr/>
        </p:nvSpPr>
        <p:spPr>
          <a:xfrm>
            <a:off x="666750" y="1543050"/>
            <a:ext cx="10858500" cy="19050"/>
          </a:xfrm>
          <a:prstGeom prst="rect">
            <a:avLst/>
          </a:prstGeom>
          <a:solidFill>
            <a:srgbClr val="C62828"/>
          </a:solidFill>
          <a:ln w="0">
            <a:noFill/>
            <a:prstDash val="solid"/>
          </a:ln>
        </p:spPr>
        <p:txBody>
          <a:bodyPr/>
          <a:lstStyle/>
          <a:p>
            <a:endParaRPr lang="en-GB"/>
          </a:p>
        </p:txBody>
      </p:sp>
      <p:sp>
        <p:nvSpPr>
          <p:cNvPr id="4" name="Dikdörtgen: Köşeleri Yuvarlatılmış 3">
            <a:extLst>
              <a:ext uri="{FF2B5EF4-FFF2-40B4-BE49-F238E27FC236}">
                <a16:creationId xmlns:a16="http://schemas.microsoft.com/office/drawing/2014/main" id="{A5701802-47DE-490F-857D-E93FEDC87C75}"/>
              </a:ext>
            </a:extLst>
          </p:cNvPr>
          <p:cNvSpPr>
            <a:spLocks noGrp="1"/>
          </p:cNvSpPr>
          <p:nvPr/>
        </p:nvSpPr>
        <p:spPr>
          <a:xfrm>
            <a:off x="666750" y="2000250"/>
            <a:ext cx="3905250" cy="2762250"/>
          </a:xfrm>
          <a:prstGeom prst="roundRect">
            <a:avLst>
              <a:gd name="adj" fmla="val 5517"/>
            </a:avLst>
          </a:prstGeom>
          <a:solidFill>
            <a:srgbClr val="F3F6F8"/>
          </a:solidFill>
          <a:ln w="9525">
            <a:solidFill>
              <a:srgbClr val="D7E0E8"/>
            </a:solidFill>
            <a:prstDash val="solid"/>
          </a:ln>
        </p:spPr>
        <p:txBody>
          <a:bodyPr/>
          <a:lstStyle/>
          <a:p>
            <a:endParaRPr lang="en-GB"/>
          </a:p>
        </p:txBody>
      </p:sp>
      <p:sp>
        <p:nvSpPr>
          <p:cNvPr id="5" name="Dikdörtgen 4">
            <a:extLst>
              <a:ext uri="{FF2B5EF4-FFF2-40B4-BE49-F238E27FC236}">
                <a16:creationId xmlns:a16="http://schemas.microsoft.com/office/drawing/2014/main" id="{F0145055-6DB9-4EB1-B88A-2F65FFCA0921}"/>
              </a:ext>
            </a:extLst>
          </p:cNvPr>
          <p:cNvSpPr>
            <a:spLocks noGrp="1"/>
          </p:cNvSpPr>
          <p:nvPr/>
        </p:nvSpPr>
        <p:spPr>
          <a:xfrm>
            <a:off x="952500" y="2286000"/>
            <a:ext cx="2381250" cy="266700"/>
          </a:xfrm>
          <a:prstGeom prst="rect">
            <a:avLst/>
          </a:prstGeom>
          <a:noFill/>
          <a:ln w="0">
            <a:noFill/>
            <a:prstDash val="solid"/>
          </a:ln>
        </p:spPr>
        <p:txBody>
          <a:bodyPr/>
          <a:lstStyle/>
          <a:p>
            <a:pPr>
              <a:defRPr sz="1575" b="1">
                <a:solidFill>
                  <a:srgbClr val="102A43"/>
                </a:solidFill>
              </a:defRPr>
            </a:pPr>
            <a:r>
              <a:rPr sz="1575" b="1">
                <a:solidFill>
                  <a:srgbClr val="102A43"/>
                </a:solidFill>
              </a:rPr>
              <a:t>Models evaluated</a:t>
            </a:r>
          </a:p>
        </p:txBody>
      </p:sp>
      <p:sp>
        <p:nvSpPr>
          <p:cNvPr id="6" name="Dikdörtgen 5">
            <a:extLst>
              <a:ext uri="{FF2B5EF4-FFF2-40B4-BE49-F238E27FC236}">
                <a16:creationId xmlns:a16="http://schemas.microsoft.com/office/drawing/2014/main" id="{7CBE83FE-DA11-4701-87A4-62CDE13839C3}"/>
              </a:ext>
            </a:extLst>
          </p:cNvPr>
          <p:cNvSpPr>
            <a:spLocks noGrp="1"/>
          </p:cNvSpPr>
          <p:nvPr/>
        </p:nvSpPr>
        <p:spPr>
          <a:xfrm>
            <a:off x="952500" y="2762250"/>
            <a:ext cx="171450" cy="285750"/>
          </a:xfrm>
          <a:prstGeom prst="rect">
            <a:avLst/>
          </a:prstGeom>
          <a:noFill/>
          <a:ln w="0">
            <a:noFill/>
            <a:prstDash val="solid"/>
          </a:ln>
        </p:spPr>
        <p:txBody>
          <a:bodyPr/>
          <a:lstStyle/>
          <a:p>
            <a:pPr>
              <a:defRPr sz="1425" b="1">
                <a:solidFill>
                  <a:srgbClr val="C62828"/>
                </a:solidFill>
              </a:defRPr>
            </a:pPr>
            <a:r>
              <a:rPr sz="1425" b="1">
                <a:solidFill>
                  <a:srgbClr val="C62828"/>
                </a:solidFill>
              </a:rPr>
              <a:t>•</a:t>
            </a:r>
          </a:p>
        </p:txBody>
      </p:sp>
      <p:sp>
        <p:nvSpPr>
          <p:cNvPr id="7" name="Dikdörtgen 6">
            <a:extLst>
              <a:ext uri="{FF2B5EF4-FFF2-40B4-BE49-F238E27FC236}">
                <a16:creationId xmlns:a16="http://schemas.microsoft.com/office/drawing/2014/main" id="{1839EA81-D24F-4CAB-B496-BF668185608B}"/>
              </a:ext>
            </a:extLst>
          </p:cNvPr>
          <p:cNvSpPr>
            <a:spLocks noGrp="1"/>
          </p:cNvSpPr>
          <p:nvPr/>
        </p:nvSpPr>
        <p:spPr>
          <a:xfrm>
            <a:off x="1181100" y="2762250"/>
            <a:ext cx="2914650" cy="342900"/>
          </a:xfrm>
          <a:prstGeom prst="rect">
            <a:avLst/>
          </a:prstGeom>
          <a:noFill/>
          <a:ln w="0">
            <a:noFill/>
            <a:prstDash val="solid"/>
          </a:ln>
        </p:spPr>
        <p:txBody>
          <a:bodyPr/>
          <a:lstStyle/>
          <a:p>
            <a:pPr>
              <a:defRPr sz="1425" b="0">
                <a:solidFill>
                  <a:srgbClr val="172B4D"/>
                </a:solidFill>
              </a:defRPr>
            </a:pPr>
            <a:r>
              <a:rPr sz="1425" b="0">
                <a:solidFill>
                  <a:srgbClr val="172B4D"/>
                </a:solidFill>
              </a:rPr>
              <a:t>Linear / Ridge / Elastic Net</a:t>
            </a:r>
          </a:p>
        </p:txBody>
      </p:sp>
      <p:sp>
        <p:nvSpPr>
          <p:cNvPr id="8" name="Dikdörtgen 7">
            <a:extLst>
              <a:ext uri="{FF2B5EF4-FFF2-40B4-BE49-F238E27FC236}">
                <a16:creationId xmlns:a16="http://schemas.microsoft.com/office/drawing/2014/main" id="{FE3CAB6A-F0FF-4E9D-8228-C7DFBA4CFA63}"/>
              </a:ext>
            </a:extLst>
          </p:cNvPr>
          <p:cNvSpPr>
            <a:spLocks noGrp="1"/>
          </p:cNvSpPr>
          <p:nvPr/>
        </p:nvSpPr>
        <p:spPr>
          <a:xfrm>
            <a:off x="952500" y="3257550"/>
            <a:ext cx="171450" cy="285750"/>
          </a:xfrm>
          <a:prstGeom prst="rect">
            <a:avLst/>
          </a:prstGeom>
          <a:noFill/>
          <a:ln w="0">
            <a:noFill/>
            <a:prstDash val="solid"/>
          </a:ln>
        </p:spPr>
        <p:txBody>
          <a:bodyPr/>
          <a:lstStyle/>
          <a:p>
            <a:pPr>
              <a:defRPr sz="1425" b="1">
                <a:solidFill>
                  <a:srgbClr val="C62828"/>
                </a:solidFill>
              </a:defRPr>
            </a:pPr>
            <a:r>
              <a:rPr sz="1425" b="1">
                <a:solidFill>
                  <a:srgbClr val="C62828"/>
                </a:solidFill>
              </a:rPr>
              <a:t>•</a:t>
            </a:r>
          </a:p>
        </p:txBody>
      </p:sp>
      <p:sp>
        <p:nvSpPr>
          <p:cNvPr id="9" name="Dikdörtgen 8">
            <a:extLst>
              <a:ext uri="{FF2B5EF4-FFF2-40B4-BE49-F238E27FC236}">
                <a16:creationId xmlns:a16="http://schemas.microsoft.com/office/drawing/2014/main" id="{B6DB6D24-61D4-4373-A98B-BB0868D9B3C1}"/>
              </a:ext>
            </a:extLst>
          </p:cNvPr>
          <p:cNvSpPr>
            <a:spLocks noGrp="1"/>
          </p:cNvSpPr>
          <p:nvPr/>
        </p:nvSpPr>
        <p:spPr>
          <a:xfrm>
            <a:off x="1181100" y="3257550"/>
            <a:ext cx="2914650" cy="342900"/>
          </a:xfrm>
          <a:prstGeom prst="rect">
            <a:avLst/>
          </a:prstGeom>
          <a:noFill/>
          <a:ln w="0">
            <a:noFill/>
            <a:prstDash val="solid"/>
          </a:ln>
        </p:spPr>
        <p:txBody>
          <a:bodyPr/>
          <a:lstStyle/>
          <a:p>
            <a:pPr>
              <a:defRPr sz="1425" b="0">
                <a:solidFill>
                  <a:srgbClr val="172B4D"/>
                </a:solidFill>
              </a:defRPr>
            </a:pPr>
            <a:r>
              <a:rPr sz="1425" b="0">
                <a:solidFill>
                  <a:srgbClr val="172B4D"/>
                </a:solidFill>
              </a:rPr>
              <a:t>Random Forest / Gradient Boosting</a:t>
            </a:r>
          </a:p>
        </p:txBody>
      </p:sp>
      <p:sp>
        <p:nvSpPr>
          <p:cNvPr id="10" name="Dikdörtgen 9">
            <a:extLst>
              <a:ext uri="{FF2B5EF4-FFF2-40B4-BE49-F238E27FC236}">
                <a16:creationId xmlns:a16="http://schemas.microsoft.com/office/drawing/2014/main" id="{B54C7971-F8E0-4704-A9E0-731889547895}"/>
              </a:ext>
            </a:extLst>
          </p:cNvPr>
          <p:cNvSpPr>
            <a:spLocks noGrp="1"/>
          </p:cNvSpPr>
          <p:nvPr/>
        </p:nvSpPr>
        <p:spPr>
          <a:xfrm>
            <a:off x="952500" y="3752850"/>
            <a:ext cx="171450" cy="285750"/>
          </a:xfrm>
          <a:prstGeom prst="rect">
            <a:avLst/>
          </a:prstGeom>
          <a:noFill/>
          <a:ln w="0">
            <a:noFill/>
            <a:prstDash val="solid"/>
          </a:ln>
        </p:spPr>
        <p:txBody>
          <a:bodyPr/>
          <a:lstStyle/>
          <a:p>
            <a:pPr>
              <a:defRPr sz="1425" b="1">
                <a:solidFill>
                  <a:srgbClr val="C62828"/>
                </a:solidFill>
              </a:defRPr>
            </a:pPr>
            <a:r>
              <a:rPr sz="1425" b="1">
                <a:solidFill>
                  <a:srgbClr val="C62828"/>
                </a:solidFill>
              </a:rPr>
              <a:t>•</a:t>
            </a:r>
          </a:p>
        </p:txBody>
      </p:sp>
      <p:sp>
        <p:nvSpPr>
          <p:cNvPr id="11" name="Dikdörtgen 10">
            <a:extLst>
              <a:ext uri="{FF2B5EF4-FFF2-40B4-BE49-F238E27FC236}">
                <a16:creationId xmlns:a16="http://schemas.microsoft.com/office/drawing/2014/main" id="{1FDCB018-B2A9-4428-A58E-8EA69A1FC6DE}"/>
              </a:ext>
            </a:extLst>
          </p:cNvPr>
          <p:cNvSpPr>
            <a:spLocks noGrp="1"/>
          </p:cNvSpPr>
          <p:nvPr/>
        </p:nvSpPr>
        <p:spPr>
          <a:xfrm>
            <a:off x="1181100" y="3752850"/>
            <a:ext cx="2914650" cy="342900"/>
          </a:xfrm>
          <a:prstGeom prst="rect">
            <a:avLst/>
          </a:prstGeom>
          <a:noFill/>
          <a:ln w="0">
            <a:noFill/>
            <a:prstDash val="solid"/>
          </a:ln>
        </p:spPr>
        <p:txBody>
          <a:bodyPr/>
          <a:lstStyle/>
          <a:p>
            <a:pPr>
              <a:defRPr sz="1425" b="0">
                <a:solidFill>
                  <a:srgbClr val="172B4D"/>
                </a:solidFill>
              </a:defRPr>
            </a:pPr>
            <a:r>
              <a:rPr sz="1425" b="0" dirty="0">
                <a:solidFill>
                  <a:srgbClr val="172B4D"/>
                </a:solidFill>
              </a:rPr>
              <a:t>Gaussian Process / PLS / PCA variants</a:t>
            </a:r>
          </a:p>
        </p:txBody>
      </p:sp>
      <p:sp>
        <p:nvSpPr>
          <p:cNvPr id="12" name="Dikdörtgen 11">
            <a:extLst>
              <a:ext uri="{FF2B5EF4-FFF2-40B4-BE49-F238E27FC236}">
                <a16:creationId xmlns:a16="http://schemas.microsoft.com/office/drawing/2014/main" id="{1C5ED318-1401-476E-9A4E-12AAD20E09BC}"/>
              </a:ext>
            </a:extLst>
          </p:cNvPr>
          <p:cNvSpPr>
            <a:spLocks noGrp="1"/>
          </p:cNvSpPr>
          <p:nvPr/>
        </p:nvSpPr>
        <p:spPr>
          <a:xfrm>
            <a:off x="952500" y="4248150"/>
            <a:ext cx="171450" cy="285750"/>
          </a:xfrm>
          <a:prstGeom prst="rect">
            <a:avLst/>
          </a:prstGeom>
          <a:noFill/>
          <a:ln w="0">
            <a:noFill/>
            <a:prstDash val="solid"/>
          </a:ln>
        </p:spPr>
        <p:txBody>
          <a:bodyPr/>
          <a:lstStyle/>
          <a:p>
            <a:pPr>
              <a:defRPr sz="1425" b="1">
                <a:solidFill>
                  <a:srgbClr val="C62828"/>
                </a:solidFill>
              </a:defRPr>
            </a:pPr>
            <a:r>
              <a:rPr sz="1425" b="1">
                <a:solidFill>
                  <a:srgbClr val="C62828"/>
                </a:solidFill>
              </a:rPr>
              <a:t>•</a:t>
            </a:r>
          </a:p>
        </p:txBody>
      </p:sp>
      <p:sp>
        <p:nvSpPr>
          <p:cNvPr id="13" name="Dikdörtgen 12">
            <a:extLst>
              <a:ext uri="{FF2B5EF4-FFF2-40B4-BE49-F238E27FC236}">
                <a16:creationId xmlns:a16="http://schemas.microsoft.com/office/drawing/2014/main" id="{76413B35-D44D-45B9-83AB-6B3C4CB22A56}"/>
              </a:ext>
            </a:extLst>
          </p:cNvPr>
          <p:cNvSpPr>
            <a:spLocks noGrp="1"/>
          </p:cNvSpPr>
          <p:nvPr/>
        </p:nvSpPr>
        <p:spPr>
          <a:xfrm>
            <a:off x="1181100" y="4248150"/>
            <a:ext cx="2914650" cy="342900"/>
          </a:xfrm>
          <a:prstGeom prst="rect">
            <a:avLst/>
          </a:prstGeom>
          <a:noFill/>
          <a:ln w="0">
            <a:noFill/>
            <a:prstDash val="solid"/>
          </a:ln>
        </p:spPr>
        <p:txBody>
          <a:bodyPr/>
          <a:lstStyle/>
          <a:p>
            <a:pPr>
              <a:defRPr sz="1425" b="0">
                <a:solidFill>
                  <a:srgbClr val="172B4D"/>
                </a:solidFill>
              </a:defRPr>
            </a:pPr>
            <a:r>
              <a:rPr lang="tr-TR" sz="1425" dirty="0">
                <a:solidFill>
                  <a:srgbClr val="172B4D"/>
                </a:solidFill>
              </a:rPr>
              <a:t>F</a:t>
            </a:r>
            <a:r>
              <a:rPr sz="1425" b="0" dirty="0" err="1">
                <a:solidFill>
                  <a:srgbClr val="172B4D"/>
                </a:solidFill>
              </a:rPr>
              <a:t>eature</a:t>
            </a:r>
            <a:r>
              <a:rPr sz="1425" b="0" dirty="0">
                <a:solidFill>
                  <a:srgbClr val="172B4D"/>
                </a:solidFill>
              </a:rPr>
              <a:t>-group comparisons</a:t>
            </a:r>
          </a:p>
        </p:txBody>
      </p:sp>
      <p:sp>
        <p:nvSpPr>
          <p:cNvPr id="14" name="Dikdörtgen: Köşeleri Yuvarlatılmış 13">
            <a:extLst>
              <a:ext uri="{FF2B5EF4-FFF2-40B4-BE49-F238E27FC236}">
                <a16:creationId xmlns:a16="http://schemas.microsoft.com/office/drawing/2014/main" id="{1D1A4C06-E3B3-42D6-AA0F-7905E81476E8}"/>
              </a:ext>
            </a:extLst>
          </p:cNvPr>
          <p:cNvSpPr>
            <a:spLocks noGrp="1"/>
          </p:cNvSpPr>
          <p:nvPr/>
        </p:nvSpPr>
        <p:spPr>
          <a:xfrm>
            <a:off x="5191125" y="2000250"/>
            <a:ext cx="5667375" cy="2762250"/>
          </a:xfrm>
          <a:prstGeom prst="roundRect">
            <a:avLst>
              <a:gd name="adj" fmla="val 5517"/>
            </a:avLst>
          </a:prstGeom>
          <a:solidFill>
            <a:srgbClr val="FFFFFF"/>
          </a:solidFill>
          <a:ln w="9525">
            <a:solidFill>
              <a:srgbClr val="D7E0E8"/>
            </a:solidFill>
            <a:prstDash val="solid"/>
          </a:ln>
        </p:spPr>
        <p:txBody>
          <a:bodyPr/>
          <a:lstStyle/>
          <a:p>
            <a:endParaRPr lang="en-GB"/>
          </a:p>
        </p:txBody>
      </p:sp>
      <p:sp>
        <p:nvSpPr>
          <p:cNvPr id="15" name="Dikdörtgen 14">
            <a:extLst>
              <a:ext uri="{FF2B5EF4-FFF2-40B4-BE49-F238E27FC236}">
                <a16:creationId xmlns:a16="http://schemas.microsoft.com/office/drawing/2014/main" id="{3F15D717-54EE-4E1F-B5D6-B78794C65A77}"/>
              </a:ext>
            </a:extLst>
          </p:cNvPr>
          <p:cNvSpPr>
            <a:spLocks noGrp="1"/>
          </p:cNvSpPr>
          <p:nvPr/>
        </p:nvSpPr>
        <p:spPr>
          <a:xfrm>
            <a:off x="5476875" y="2286000"/>
            <a:ext cx="4762500" cy="276225"/>
          </a:xfrm>
          <a:prstGeom prst="rect">
            <a:avLst/>
          </a:prstGeom>
          <a:noFill/>
          <a:ln w="0">
            <a:noFill/>
            <a:prstDash val="solid"/>
          </a:ln>
        </p:spPr>
        <p:txBody>
          <a:bodyPr/>
          <a:lstStyle/>
          <a:p>
            <a:pPr>
              <a:defRPr sz="1725" b="1">
                <a:solidFill>
                  <a:srgbClr val="C62828"/>
                </a:solidFill>
              </a:defRPr>
            </a:pPr>
            <a:r>
              <a:rPr sz="1725" b="1">
                <a:solidFill>
                  <a:srgbClr val="C62828"/>
                </a:solidFill>
              </a:rPr>
              <a:t>Main evaluation: GroupKFold by benchmark</a:t>
            </a:r>
          </a:p>
        </p:txBody>
      </p:sp>
      <p:sp>
        <p:nvSpPr>
          <p:cNvPr id="16" name="Dikdörtgen 15">
            <a:extLst>
              <a:ext uri="{FF2B5EF4-FFF2-40B4-BE49-F238E27FC236}">
                <a16:creationId xmlns:a16="http://schemas.microsoft.com/office/drawing/2014/main" id="{39B29390-7E60-4ADF-83A1-B50B677A99E0}"/>
              </a:ext>
            </a:extLst>
          </p:cNvPr>
          <p:cNvSpPr>
            <a:spLocks noGrp="1"/>
          </p:cNvSpPr>
          <p:nvPr/>
        </p:nvSpPr>
        <p:spPr>
          <a:xfrm>
            <a:off x="5505450" y="2952750"/>
            <a:ext cx="1047750" cy="228600"/>
          </a:xfrm>
          <a:prstGeom prst="rect">
            <a:avLst/>
          </a:prstGeom>
          <a:noFill/>
          <a:ln w="0">
            <a:noFill/>
            <a:prstDash val="solid"/>
          </a:ln>
        </p:spPr>
        <p:txBody>
          <a:bodyPr/>
          <a:lstStyle/>
          <a:p>
            <a:pPr>
              <a:defRPr sz="1125" b="1">
                <a:solidFill>
                  <a:srgbClr val="7A8795"/>
                </a:solidFill>
              </a:defRPr>
            </a:pPr>
            <a:r>
              <a:rPr sz="1125" b="1">
                <a:solidFill>
                  <a:srgbClr val="7A8795"/>
                </a:solidFill>
              </a:rPr>
              <a:t>TRAIN</a:t>
            </a:r>
          </a:p>
        </p:txBody>
      </p:sp>
      <p:sp>
        <p:nvSpPr>
          <p:cNvPr id="17" name="Dikdörtgen: Köşeleri Yuvarlatılmış 16">
            <a:extLst>
              <a:ext uri="{FF2B5EF4-FFF2-40B4-BE49-F238E27FC236}">
                <a16:creationId xmlns:a16="http://schemas.microsoft.com/office/drawing/2014/main" id="{AC90C162-94A9-4A06-A4E9-D6C4457DB560}"/>
              </a:ext>
            </a:extLst>
          </p:cNvPr>
          <p:cNvSpPr>
            <a:spLocks noGrp="1"/>
          </p:cNvSpPr>
          <p:nvPr/>
        </p:nvSpPr>
        <p:spPr>
          <a:xfrm>
            <a:off x="5476875" y="3238500"/>
            <a:ext cx="3190875" cy="666750"/>
          </a:xfrm>
          <a:prstGeom prst="roundRect">
            <a:avLst>
              <a:gd name="adj" fmla="val 14286"/>
            </a:avLst>
          </a:prstGeom>
          <a:solidFill>
            <a:srgbClr val="E7F3EF"/>
          </a:solidFill>
          <a:ln w="9525">
            <a:solidFill>
              <a:srgbClr val="A8D8C5"/>
            </a:solidFill>
            <a:prstDash val="solid"/>
          </a:ln>
        </p:spPr>
        <p:txBody>
          <a:bodyPr/>
          <a:lstStyle/>
          <a:p>
            <a:endParaRPr lang="en-GB"/>
          </a:p>
        </p:txBody>
      </p:sp>
      <p:sp>
        <p:nvSpPr>
          <p:cNvPr id="18" name="Dikdörtgen 17">
            <a:extLst>
              <a:ext uri="{FF2B5EF4-FFF2-40B4-BE49-F238E27FC236}">
                <a16:creationId xmlns:a16="http://schemas.microsoft.com/office/drawing/2014/main" id="{5709B3D7-A631-416F-A2AD-27B3A491648B}"/>
              </a:ext>
            </a:extLst>
          </p:cNvPr>
          <p:cNvSpPr>
            <a:spLocks noGrp="1"/>
          </p:cNvSpPr>
          <p:nvPr/>
        </p:nvSpPr>
        <p:spPr>
          <a:xfrm>
            <a:off x="5656041" y="3409950"/>
            <a:ext cx="2762250" cy="228600"/>
          </a:xfrm>
          <a:prstGeom prst="rect">
            <a:avLst/>
          </a:prstGeom>
          <a:noFill/>
          <a:ln w="0">
            <a:noFill/>
            <a:prstDash val="solid"/>
          </a:ln>
        </p:spPr>
        <p:txBody>
          <a:bodyPr/>
          <a:lstStyle/>
          <a:p>
            <a:pPr>
              <a:defRPr sz="1350" b="1">
                <a:solidFill>
                  <a:srgbClr val="0E7C66"/>
                </a:solidFill>
              </a:defRPr>
            </a:pPr>
            <a:r>
              <a:rPr sz="1350" b="1" dirty="0">
                <a:solidFill>
                  <a:srgbClr val="0E7C66"/>
                </a:solidFill>
              </a:rPr>
              <a:t>all non-held-out benchmark kernels</a:t>
            </a:r>
          </a:p>
        </p:txBody>
      </p:sp>
      <p:sp>
        <p:nvSpPr>
          <p:cNvPr id="19" name="Dikdörtgen 18">
            <a:extLst>
              <a:ext uri="{FF2B5EF4-FFF2-40B4-BE49-F238E27FC236}">
                <a16:creationId xmlns:a16="http://schemas.microsoft.com/office/drawing/2014/main" id="{3A900866-4479-4DB6-9CE2-91185C1D37D0}"/>
              </a:ext>
            </a:extLst>
          </p:cNvPr>
          <p:cNvSpPr>
            <a:spLocks noGrp="1"/>
          </p:cNvSpPr>
          <p:nvPr/>
        </p:nvSpPr>
        <p:spPr>
          <a:xfrm>
            <a:off x="9001125" y="2952750"/>
            <a:ext cx="1047750" cy="228600"/>
          </a:xfrm>
          <a:prstGeom prst="rect">
            <a:avLst/>
          </a:prstGeom>
          <a:noFill/>
          <a:ln w="0">
            <a:noFill/>
            <a:prstDash val="solid"/>
          </a:ln>
        </p:spPr>
        <p:txBody>
          <a:bodyPr/>
          <a:lstStyle/>
          <a:p>
            <a:pPr>
              <a:defRPr sz="1125" b="1">
                <a:solidFill>
                  <a:srgbClr val="7A8795"/>
                </a:solidFill>
              </a:defRPr>
            </a:pPr>
            <a:r>
              <a:rPr sz="1125" b="1">
                <a:solidFill>
                  <a:srgbClr val="7A8795"/>
                </a:solidFill>
              </a:rPr>
              <a:t>TEST</a:t>
            </a:r>
          </a:p>
        </p:txBody>
      </p:sp>
      <p:sp>
        <p:nvSpPr>
          <p:cNvPr id="20" name="Dikdörtgen: Köşeleri Yuvarlatılmış 19">
            <a:extLst>
              <a:ext uri="{FF2B5EF4-FFF2-40B4-BE49-F238E27FC236}">
                <a16:creationId xmlns:a16="http://schemas.microsoft.com/office/drawing/2014/main" id="{E4318114-CB08-48DC-B563-DC2652E986F9}"/>
              </a:ext>
            </a:extLst>
          </p:cNvPr>
          <p:cNvSpPr>
            <a:spLocks noGrp="1"/>
          </p:cNvSpPr>
          <p:nvPr/>
        </p:nvSpPr>
        <p:spPr>
          <a:xfrm>
            <a:off x="8905875" y="3238500"/>
            <a:ext cx="1571625" cy="666750"/>
          </a:xfrm>
          <a:prstGeom prst="roundRect">
            <a:avLst>
              <a:gd name="adj" fmla="val 14286"/>
            </a:avLst>
          </a:prstGeom>
          <a:solidFill>
            <a:srgbClr val="FFF1F2"/>
          </a:solidFill>
          <a:ln w="9525">
            <a:solidFill>
              <a:srgbClr val="F4B8BD"/>
            </a:solidFill>
            <a:prstDash val="solid"/>
          </a:ln>
        </p:spPr>
        <p:txBody>
          <a:bodyPr/>
          <a:lstStyle/>
          <a:p>
            <a:endParaRPr lang="en-GB"/>
          </a:p>
        </p:txBody>
      </p:sp>
      <p:sp>
        <p:nvSpPr>
          <p:cNvPr id="21" name="Dikdörtgen 20">
            <a:extLst>
              <a:ext uri="{FF2B5EF4-FFF2-40B4-BE49-F238E27FC236}">
                <a16:creationId xmlns:a16="http://schemas.microsoft.com/office/drawing/2014/main" id="{5FD71BFD-0693-4566-9004-27A662FCFB94}"/>
              </a:ext>
            </a:extLst>
          </p:cNvPr>
          <p:cNvSpPr>
            <a:spLocks noGrp="1"/>
          </p:cNvSpPr>
          <p:nvPr/>
        </p:nvSpPr>
        <p:spPr>
          <a:xfrm>
            <a:off x="9048750" y="3276600"/>
            <a:ext cx="1285875" cy="361950"/>
          </a:xfrm>
          <a:prstGeom prst="rect">
            <a:avLst/>
          </a:prstGeom>
          <a:noFill/>
          <a:ln w="0">
            <a:noFill/>
            <a:prstDash val="solid"/>
          </a:ln>
        </p:spPr>
        <p:txBody>
          <a:bodyPr/>
          <a:lstStyle/>
          <a:p>
            <a:pPr>
              <a:defRPr sz="1275" b="1">
                <a:solidFill>
                  <a:srgbClr val="C62828"/>
                </a:solidFill>
              </a:defRPr>
            </a:pPr>
            <a:r>
              <a:rPr sz="1275" b="1" dirty="0">
                <a:solidFill>
                  <a:srgbClr val="C62828"/>
                </a:solidFill>
              </a:rPr>
              <a:t>one complete</a:t>
            </a:r>
          </a:p>
          <a:p>
            <a:pPr>
              <a:defRPr sz="1275" b="1">
                <a:solidFill>
                  <a:srgbClr val="C62828"/>
                </a:solidFill>
              </a:defRPr>
            </a:pPr>
            <a:r>
              <a:rPr sz="1275" b="1" dirty="0">
                <a:solidFill>
                  <a:srgbClr val="C62828"/>
                </a:solidFill>
              </a:rPr>
              <a:t>benchmark kernel</a:t>
            </a:r>
          </a:p>
        </p:txBody>
      </p:sp>
      <p:sp>
        <p:nvSpPr>
          <p:cNvPr id="22" name="Dikdörtgen 21">
            <a:extLst>
              <a:ext uri="{FF2B5EF4-FFF2-40B4-BE49-F238E27FC236}">
                <a16:creationId xmlns:a16="http://schemas.microsoft.com/office/drawing/2014/main" id="{5B83239A-8C54-4CD8-A44F-D0A8AD1DFB14}"/>
              </a:ext>
            </a:extLst>
          </p:cNvPr>
          <p:cNvSpPr>
            <a:spLocks noGrp="1"/>
          </p:cNvSpPr>
          <p:nvPr/>
        </p:nvSpPr>
        <p:spPr>
          <a:xfrm>
            <a:off x="666750" y="5191125"/>
            <a:ext cx="10191750" cy="304800"/>
          </a:xfrm>
          <a:prstGeom prst="rect">
            <a:avLst/>
          </a:prstGeom>
          <a:noFill/>
          <a:ln w="0">
            <a:noFill/>
            <a:prstDash val="solid"/>
          </a:ln>
        </p:spPr>
        <p:txBody>
          <a:bodyPr/>
          <a:lstStyle/>
          <a:p>
            <a:pPr>
              <a:defRPr sz="1500" b="0">
                <a:solidFill>
                  <a:srgbClr val="172B4D"/>
                </a:solidFill>
              </a:defRPr>
            </a:pPr>
            <a:r>
              <a:rPr sz="1500" b="0">
                <a:solidFill>
                  <a:srgbClr val="172B4D"/>
                </a:solidFill>
              </a:rPr>
              <a:t>Random splits can share benchmark-specific structure across train/test and therefore look optimistic.</a:t>
            </a:r>
          </a:p>
        </p:txBody>
      </p:sp>
      <p:sp>
        <p:nvSpPr>
          <p:cNvPr id="23" name="Dikdörtgen 22">
            <a:extLst>
              <a:ext uri="{FF2B5EF4-FFF2-40B4-BE49-F238E27FC236}">
                <a16:creationId xmlns:a16="http://schemas.microsoft.com/office/drawing/2014/main" id="{9A18ECA6-3382-4452-A042-53CA2BEBAA11}"/>
              </a:ext>
            </a:extLst>
          </p:cNvPr>
          <p:cNvSpPr>
            <a:spLocks noGrp="1"/>
          </p:cNvSpPr>
          <p:nvPr/>
        </p:nvSpPr>
        <p:spPr>
          <a:xfrm>
            <a:off x="666750" y="5638800"/>
            <a:ext cx="10191750" cy="285750"/>
          </a:xfrm>
          <a:prstGeom prst="rect">
            <a:avLst/>
          </a:prstGeom>
          <a:noFill/>
          <a:ln w="0">
            <a:noFill/>
            <a:prstDash val="solid"/>
          </a:ln>
        </p:spPr>
        <p:txBody>
          <a:bodyPr/>
          <a:lstStyle/>
          <a:p>
            <a:pPr>
              <a:defRPr sz="1575" b="1">
                <a:solidFill>
                  <a:srgbClr val="102A43"/>
                </a:solidFill>
              </a:defRPr>
            </a:pPr>
            <a:r>
              <a:rPr sz="1575" b="1">
                <a:solidFill>
                  <a:srgbClr val="102A43"/>
                </a:solidFill>
              </a:rPr>
              <a:t>NMAE = MAE / mean(|y|)  →  normalized prediction error, not accuracy</a:t>
            </a:r>
          </a:p>
        </p:txBody>
      </p:sp>
      <p:sp>
        <p:nvSpPr>
          <p:cNvPr id="24" name="Dikdörtgen 23">
            <a:extLst>
              <a:ext uri="{FF2B5EF4-FFF2-40B4-BE49-F238E27FC236}">
                <a16:creationId xmlns:a16="http://schemas.microsoft.com/office/drawing/2014/main" id="{60C5B36F-F381-4A54-BB15-42B6578937F3}"/>
              </a:ext>
            </a:extLst>
          </p:cNvPr>
          <p:cNvSpPr>
            <a:spLocks noGrp="1"/>
          </p:cNvSpPr>
          <p:nvPr/>
        </p:nvSpPr>
        <p:spPr>
          <a:xfrm>
            <a:off x="666750" y="6477000"/>
            <a:ext cx="7143750" cy="171450"/>
          </a:xfrm>
          <a:prstGeom prst="rect">
            <a:avLst/>
          </a:prstGeom>
          <a:noFill/>
          <a:ln w="0">
            <a:noFill/>
            <a:prstDash val="solid"/>
          </a:ln>
        </p:spPr>
        <p:txBody>
          <a:bodyPr/>
          <a:lstStyle/>
          <a:p>
            <a:pPr>
              <a:defRPr sz="825" b="0">
                <a:solidFill>
                  <a:srgbClr val="7A8795"/>
                </a:solidFill>
              </a:defRPr>
            </a:pPr>
            <a:r>
              <a:rPr sz="825" b="0">
                <a:solidFill>
                  <a:srgbClr val="7A8795"/>
                </a:solidFill>
              </a:rPr>
              <a:t>Advanced Computer Architectures | Politecnico di Milano</a:t>
            </a:r>
          </a:p>
        </p:txBody>
      </p:sp>
      <p:sp>
        <p:nvSpPr>
          <p:cNvPr id="25" name="Dikdörtgen 24">
            <a:extLst>
              <a:ext uri="{FF2B5EF4-FFF2-40B4-BE49-F238E27FC236}">
                <a16:creationId xmlns:a16="http://schemas.microsoft.com/office/drawing/2014/main" id="{3EB2A16D-2D12-4420-8345-665B2FCC3B1B}"/>
              </a:ext>
            </a:extLst>
          </p:cNvPr>
          <p:cNvSpPr>
            <a:spLocks noGrp="1"/>
          </p:cNvSpPr>
          <p:nvPr/>
        </p:nvSpPr>
        <p:spPr>
          <a:xfrm>
            <a:off x="10782300" y="6477000"/>
            <a:ext cx="742950" cy="171450"/>
          </a:xfrm>
          <a:prstGeom prst="rect">
            <a:avLst/>
          </a:prstGeom>
          <a:noFill/>
          <a:ln w="0">
            <a:noFill/>
            <a:prstDash val="solid"/>
          </a:ln>
        </p:spPr>
        <p:txBody>
          <a:bodyPr/>
          <a:lstStyle/>
          <a:p>
            <a:pPr>
              <a:defRPr sz="825" b="0">
                <a:solidFill>
                  <a:srgbClr val="7A8795"/>
                </a:solidFill>
              </a:defRPr>
            </a:pPr>
            <a:r>
              <a:rPr sz="825" b="0">
                <a:solidFill>
                  <a:srgbClr val="7A8795"/>
                </a:solidFill>
              </a:rPr>
              <a:t>6 / 10</a:t>
            </a:r>
          </a:p>
        </p:txBody>
      </p:sp>
    </p:spTree>
    <p:extLst>
      <p:ext uri="{BB962C8B-B14F-4D97-AF65-F5344CB8AC3E}">
        <p14:creationId xmlns:p14="http://schemas.microsoft.com/office/powerpoint/2010/main" val="1389954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Dikdörtgen 4">
            <a:extLst>
              <a:ext uri="{FF2B5EF4-FFF2-40B4-BE49-F238E27FC236}">
                <a16:creationId xmlns:a16="http://schemas.microsoft.com/office/drawing/2014/main" id="{22790113-467F-4D2E-B04F-C3301E96FA84}"/>
              </a:ext>
            </a:extLst>
          </p:cNvPr>
          <p:cNvSpPr>
            <a:spLocks noGrp="1"/>
          </p:cNvSpPr>
          <p:nvPr/>
        </p:nvSpPr>
        <p:spPr>
          <a:xfrm>
            <a:off x="666750" y="400050"/>
            <a:ext cx="495300" cy="228600"/>
          </a:xfrm>
          <a:prstGeom prst="rect">
            <a:avLst/>
          </a:prstGeom>
          <a:noFill/>
          <a:ln w="0">
            <a:noFill/>
            <a:prstDash val="solid"/>
          </a:ln>
        </p:spPr>
        <p:txBody>
          <a:bodyPr/>
          <a:lstStyle/>
          <a:p>
            <a:pPr>
              <a:defRPr sz="1050" b="1">
                <a:solidFill>
                  <a:srgbClr val="C62828"/>
                </a:solidFill>
              </a:defRPr>
            </a:pPr>
            <a:r>
              <a:rPr sz="1050" b="1">
                <a:solidFill>
                  <a:srgbClr val="C62828"/>
                </a:solidFill>
              </a:rPr>
              <a:t>07</a:t>
            </a:r>
          </a:p>
        </p:txBody>
      </p:sp>
      <p:sp>
        <p:nvSpPr>
          <p:cNvPr id="2" name="Dikdörtgen 1">
            <a:extLst>
              <a:ext uri="{FF2B5EF4-FFF2-40B4-BE49-F238E27FC236}">
                <a16:creationId xmlns:a16="http://schemas.microsoft.com/office/drawing/2014/main" id="{16283620-A13C-4DC9-8FB4-387D9A2F8C16}"/>
              </a:ext>
            </a:extLst>
          </p:cNvPr>
          <p:cNvSpPr>
            <a:spLocks noGrp="1"/>
          </p:cNvSpPr>
          <p:nvPr/>
        </p:nvSpPr>
        <p:spPr>
          <a:xfrm>
            <a:off x="666750" y="666750"/>
            <a:ext cx="10096500" cy="495300"/>
          </a:xfrm>
          <a:prstGeom prst="rect">
            <a:avLst/>
          </a:prstGeom>
          <a:noFill/>
          <a:ln w="0">
            <a:noFill/>
            <a:prstDash val="solid"/>
          </a:ln>
        </p:spPr>
        <p:txBody>
          <a:bodyPr/>
          <a:lstStyle/>
          <a:p>
            <a:pPr>
              <a:defRPr sz="2550" b="1">
                <a:solidFill>
                  <a:srgbClr val="102A43"/>
                </a:solidFill>
              </a:defRPr>
            </a:pPr>
            <a:r>
              <a:rPr sz="2550" b="1">
                <a:solidFill>
                  <a:srgbClr val="102A43"/>
                </a:solidFill>
              </a:rPr>
              <a:t>GroupKFold results: area strongest, power exploratory</a:t>
            </a:r>
          </a:p>
        </p:txBody>
      </p:sp>
      <p:sp>
        <p:nvSpPr>
          <p:cNvPr id="3" name="Dikdörtgen 2">
            <a:extLst>
              <a:ext uri="{FF2B5EF4-FFF2-40B4-BE49-F238E27FC236}">
                <a16:creationId xmlns:a16="http://schemas.microsoft.com/office/drawing/2014/main" id="{EA741344-EFAB-4890-AAAE-89DAAB5EB240}"/>
              </a:ext>
            </a:extLst>
          </p:cNvPr>
          <p:cNvSpPr>
            <a:spLocks noGrp="1"/>
          </p:cNvSpPr>
          <p:nvPr/>
        </p:nvSpPr>
        <p:spPr>
          <a:xfrm>
            <a:off x="666750" y="1543050"/>
            <a:ext cx="10858500" cy="19050"/>
          </a:xfrm>
          <a:prstGeom prst="rect">
            <a:avLst/>
          </a:prstGeom>
          <a:solidFill>
            <a:srgbClr val="C62828"/>
          </a:solidFill>
          <a:ln w="0">
            <a:noFill/>
            <a:prstDash val="solid"/>
          </a:ln>
        </p:spPr>
        <p:txBody>
          <a:bodyPr/>
          <a:lstStyle/>
          <a:p>
            <a:endParaRPr lang="en-GB"/>
          </a:p>
        </p:txBody>
      </p:sp>
      <p:sp>
        <p:nvSpPr>
          <p:cNvPr id="4" name="Dikdörtgen: Köşeleri Yuvarlatılmış 3">
            <a:extLst>
              <a:ext uri="{FF2B5EF4-FFF2-40B4-BE49-F238E27FC236}">
                <a16:creationId xmlns:a16="http://schemas.microsoft.com/office/drawing/2014/main" id="{D71E9475-E6D4-44B1-8E84-5D323A037843}"/>
              </a:ext>
            </a:extLst>
          </p:cNvPr>
          <p:cNvSpPr>
            <a:spLocks noGrp="1"/>
          </p:cNvSpPr>
          <p:nvPr/>
        </p:nvSpPr>
        <p:spPr>
          <a:xfrm>
            <a:off x="666750" y="1905000"/>
            <a:ext cx="4857750" cy="3143250"/>
          </a:xfrm>
          <a:prstGeom prst="roundRect">
            <a:avLst>
              <a:gd name="adj" fmla="val 4848"/>
            </a:avLst>
          </a:prstGeom>
          <a:solidFill>
            <a:srgbClr val="FFFFFF"/>
          </a:solidFill>
          <a:ln w="9525">
            <a:solidFill>
              <a:srgbClr val="D7E0E8"/>
            </a:solidFill>
            <a:prstDash val="solid"/>
          </a:ln>
        </p:spPr>
        <p:txBody>
          <a:bodyPr/>
          <a:lstStyle/>
          <a:p>
            <a:endParaRPr lang="en-GB"/>
          </a:p>
        </p:txBody>
      </p:sp>
      <p:pic>
        <p:nvPicPr>
          <p:cNvPr id="28" name="Resim 27"/>
          <p:cNvPicPr>
            <a:picLocks noChangeAspect="1"/>
          </p:cNvPicPr>
          <p:nvPr/>
        </p:nvPicPr>
        <p:blipFill>
          <a:blip r:embed="rId3"/>
          <a:stretch/>
        </p:blipFill>
        <p:spPr>
          <a:xfrm>
            <a:off x="876300" y="2163536"/>
            <a:ext cx="4429125" cy="2530929"/>
          </a:xfrm>
          <a:prstGeom prst="rect">
            <a:avLst/>
          </a:prstGeom>
        </p:spPr>
      </p:pic>
      <p:sp>
        <p:nvSpPr>
          <p:cNvPr id="6" name="Dikdörtgen 5">
            <a:extLst>
              <a:ext uri="{FF2B5EF4-FFF2-40B4-BE49-F238E27FC236}">
                <a16:creationId xmlns:a16="http://schemas.microsoft.com/office/drawing/2014/main" id="{57C05CBC-8D2D-4812-81BF-74DC0CF30A5E}"/>
              </a:ext>
            </a:extLst>
          </p:cNvPr>
          <p:cNvSpPr>
            <a:spLocks noGrp="1"/>
          </p:cNvSpPr>
          <p:nvPr/>
        </p:nvSpPr>
        <p:spPr>
          <a:xfrm>
            <a:off x="1428750" y="4695825"/>
            <a:ext cx="3333750" cy="180975"/>
          </a:xfrm>
          <a:prstGeom prst="rect">
            <a:avLst/>
          </a:prstGeom>
          <a:noFill/>
          <a:ln w="0">
            <a:noFill/>
            <a:prstDash val="solid"/>
          </a:ln>
        </p:spPr>
        <p:txBody>
          <a:bodyPr/>
          <a:lstStyle/>
          <a:p>
            <a:pPr>
              <a:defRPr sz="975" b="0">
                <a:solidFill>
                  <a:srgbClr val="7A8795"/>
                </a:solidFill>
              </a:defRPr>
            </a:pPr>
            <a:r>
              <a:rPr sz="975" b="0">
                <a:solidFill>
                  <a:srgbClr val="7A8795"/>
                </a:solidFill>
              </a:rPr>
              <a:t>Report Figure 1 - normalized MAE</a:t>
            </a:r>
          </a:p>
        </p:txBody>
      </p:sp>
      <p:sp>
        <p:nvSpPr>
          <p:cNvPr id="7" name="Dikdörtgen: Köşeleri Yuvarlatılmış 6">
            <a:extLst>
              <a:ext uri="{FF2B5EF4-FFF2-40B4-BE49-F238E27FC236}">
                <a16:creationId xmlns:a16="http://schemas.microsoft.com/office/drawing/2014/main" id="{91C620EE-BB54-4849-85D7-46DE14F35BC4}"/>
              </a:ext>
            </a:extLst>
          </p:cNvPr>
          <p:cNvSpPr>
            <a:spLocks noGrp="1"/>
          </p:cNvSpPr>
          <p:nvPr/>
        </p:nvSpPr>
        <p:spPr>
          <a:xfrm>
            <a:off x="6143625" y="2143125"/>
            <a:ext cx="1619250" cy="1190625"/>
          </a:xfrm>
          <a:prstGeom prst="roundRect">
            <a:avLst>
              <a:gd name="adj" fmla="val 14400"/>
            </a:avLst>
          </a:prstGeom>
          <a:solidFill>
            <a:srgbClr val="FFFFFF"/>
          </a:solidFill>
          <a:ln w="9525">
            <a:solidFill>
              <a:srgbClr val="D7E0E8"/>
            </a:solidFill>
            <a:prstDash val="solid"/>
          </a:ln>
        </p:spPr>
        <p:txBody>
          <a:bodyPr/>
          <a:lstStyle/>
          <a:p>
            <a:endParaRPr lang="en-GB"/>
          </a:p>
        </p:txBody>
      </p:sp>
      <p:sp>
        <p:nvSpPr>
          <p:cNvPr id="8" name="Dikdörtgen 7">
            <a:extLst>
              <a:ext uri="{FF2B5EF4-FFF2-40B4-BE49-F238E27FC236}">
                <a16:creationId xmlns:a16="http://schemas.microsoft.com/office/drawing/2014/main" id="{5099DAA8-08FC-46ED-820C-FDFD5650A1F5}"/>
              </a:ext>
            </a:extLst>
          </p:cNvPr>
          <p:cNvSpPr>
            <a:spLocks noGrp="1"/>
          </p:cNvSpPr>
          <p:nvPr/>
        </p:nvSpPr>
        <p:spPr>
          <a:xfrm>
            <a:off x="6334125" y="2314575"/>
            <a:ext cx="1238250" cy="457200"/>
          </a:xfrm>
          <a:prstGeom prst="rect">
            <a:avLst/>
          </a:prstGeom>
          <a:noFill/>
          <a:ln w="0">
            <a:noFill/>
            <a:prstDash val="solid"/>
          </a:ln>
        </p:spPr>
        <p:txBody>
          <a:bodyPr/>
          <a:lstStyle/>
          <a:p>
            <a:pPr>
              <a:defRPr sz="2325" b="1">
                <a:solidFill>
                  <a:srgbClr val="0E7C66"/>
                </a:solidFill>
              </a:defRPr>
            </a:pPr>
            <a:r>
              <a:rPr sz="2325" b="1">
                <a:solidFill>
                  <a:srgbClr val="0E7C66"/>
                </a:solidFill>
              </a:rPr>
              <a:t>15.34%</a:t>
            </a:r>
          </a:p>
        </p:txBody>
      </p:sp>
      <p:sp>
        <p:nvSpPr>
          <p:cNvPr id="9" name="Dikdörtgen 8">
            <a:extLst>
              <a:ext uri="{FF2B5EF4-FFF2-40B4-BE49-F238E27FC236}">
                <a16:creationId xmlns:a16="http://schemas.microsoft.com/office/drawing/2014/main" id="{9C617F3B-979E-433E-91DD-9BCC5C8F099A}"/>
              </a:ext>
            </a:extLst>
          </p:cNvPr>
          <p:cNvSpPr>
            <a:spLocks noGrp="1"/>
          </p:cNvSpPr>
          <p:nvPr/>
        </p:nvSpPr>
        <p:spPr>
          <a:xfrm>
            <a:off x="6334125" y="2809875"/>
            <a:ext cx="1238250" cy="361950"/>
          </a:xfrm>
          <a:prstGeom prst="rect">
            <a:avLst/>
          </a:prstGeom>
          <a:noFill/>
          <a:ln w="0">
            <a:noFill/>
            <a:prstDash val="solid"/>
          </a:ln>
        </p:spPr>
        <p:txBody>
          <a:bodyPr/>
          <a:lstStyle/>
          <a:p>
            <a:pPr>
              <a:defRPr sz="1275" b="0">
                <a:solidFill>
                  <a:srgbClr val="52667A"/>
                </a:solidFill>
              </a:defRPr>
            </a:pPr>
            <a:r>
              <a:rPr sz="1275" b="0">
                <a:solidFill>
                  <a:srgbClr val="52667A"/>
                </a:solidFill>
              </a:rPr>
              <a:t>Area NMAE</a:t>
            </a:r>
          </a:p>
          <a:p>
            <a:pPr>
              <a:defRPr sz="1275" b="0">
                <a:solidFill>
                  <a:srgbClr val="52667A"/>
                </a:solidFill>
              </a:defRPr>
            </a:pPr>
            <a:r>
              <a:rPr sz="1275" b="0">
                <a:solidFill>
                  <a:srgbClr val="52667A"/>
                </a:solidFill>
              </a:rPr>
              <a:t>MAE: 6637.11</a:t>
            </a:r>
          </a:p>
        </p:txBody>
      </p:sp>
      <p:sp>
        <p:nvSpPr>
          <p:cNvPr id="10" name="Dikdörtgen: Köşeleri Yuvarlatılmış 9">
            <a:extLst>
              <a:ext uri="{FF2B5EF4-FFF2-40B4-BE49-F238E27FC236}">
                <a16:creationId xmlns:a16="http://schemas.microsoft.com/office/drawing/2014/main" id="{C8EA4BF4-D8D7-464B-BA3B-EA3CC99D9DE7}"/>
              </a:ext>
            </a:extLst>
          </p:cNvPr>
          <p:cNvSpPr>
            <a:spLocks noGrp="1"/>
          </p:cNvSpPr>
          <p:nvPr/>
        </p:nvSpPr>
        <p:spPr>
          <a:xfrm>
            <a:off x="8001000" y="2143125"/>
            <a:ext cx="1619250" cy="1190625"/>
          </a:xfrm>
          <a:prstGeom prst="roundRect">
            <a:avLst>
              <a:gd name="adj" fmla="val 14400"/>
            </a:avLst>
          </a:prstGeom>
          <a:solidFill>
            <a:srgbClr val="FFFFFF"/>
          </a:solidFill>
          <a:ln w="9525">
            <a:solidFill>
              <a:srgbClr val="D7E0E8"/>
            </a:solidFill>
            <a:prstDash val="solid"/>
          </a:ln>
        </p:spPr>
        <p:txBody>
          <a:bodyPr/>
          <a:lstStyle/>
          <a:p>
            <a:endParaRPr lang="en-GB"/>
          </a:p>
        </p:txBody>
      </p:sp>
      <p:sp>
        <p:nvSpPr>
          <p:cNvPr id="11" name="Dikdörtgen 10">
            <a:extLst>
              <a:ext uri="{FF2B5EF4-FFF2-40B4-BE49-F238E27FC236}">
                <a16:creationId xmlns:a16="http://schemas.microsoft.com/office/drawing/2014/main" id="{2CF50ECF-4C78-463E-A8DE-008056E732E2}"/>
              </a:ext>
            </a:extLst>
          </p:cNvPr>
          <p:cNvSpPr>
            <a:spLocks noGrp="1"/>
          </p:cNvSpPr>
          <p:nvPr/>
        </p:nvSpPr>
        <p:spPr>
          <a:xfrm>
            <a:off x="8191500" y="2314575"/>
            <a:ext cx="1238250" cy="457200"/>
          </a:xfrm>
          <a:prstGeom prst="rect">
            <a:avLst/>
          </a:prstGeom>
          <a:noFill/>
          <a:ln w="0">
            <a:noFill/>
            <a:prstDash val="solid"/>
          </a:ln>
        </p:spPr>
        <p:txBody>
          <a:bodyPr/>
          <a:lstStyle/>
          <a:p>
            <a:pPr>
              <a:defRPr sz="2325" b="1">
                <a:solidFill>
                  <a:srgbClr val="D7A721"/>
                </a:solidFill>
              </a:defRPr>
            </a:pPr>
            <a:r>
              <a:rPr sz="2325" b="1">
                <a:solidFill>
                  <a:srgbClr val="D7A721"/>
                </a:solidFill>
              </a:rPr>
              <a:t>18.71%</a:t>
            </a:r>
          </a:p>
        </p:txBody>
      </p:sp>
      <p:sp>
        <p:nvSpPr>
          <p:cNvPr id="12" name="Dikdörtgen 11">
            <a:extLst>
              <a:ext uri="{FF2B5EF4-FFF2-40B4-BE49-F238E27FC236}">
                <a16:creationId xmlns:a16="http://schemas.microsoft.com/office/drawing/2014/main" id="{8D9E317B-9027-40F0-9BC2-EF3A3B47D0EB}"/>
              </a:ext>
            </a:extLst>
          </p:cNvPr>
          <p:cNvSpPr>
            <a:spLocks noGrp="1"/>
          </p:cNvSpPr>
          <p:nvPr/>
        </p:nvSpPr>
        <p:spPr>
          <a:xfrm>
            <a:off x="8191500" y="2809875"/>
            <a:ext cx="1238250" cy="361950"/>
          </a:xfrm>
          <a:prstGeom prst="rect">
            <a:avLst/>
          </a:prstGeom>
          <a:noFill/>
          <a:ln w="0">
            <a:noFill/>
            <a:prstDash val="solid"/>
          </a:ln>
        </p:spPr>
        <p:txBody>
          <a:bodyPr/>
          <a:lstStyle/>
          <a:p>
            <a:pPr>
              <a:defRPr sz="1275" b="0">
                <a:solidFill>
                  <a:srgbClr val="52667A"/>
                </a:solidFill>
              </a:defRPr>
            </a:pPr>
            <a:r>
              <a:rPr sz="1275" b="0">
                <a:solidFill>
                  <a:srgbClr val="52667A"/>
                </a:solidFill>
              </a:rPr>
              <a:t>Delay NMAE</a:t>
            </a:r>
          </a:p>
          <a:p>
            <a:pPr>
              <a:defRPr sz="1275" b="0">
                <a:solidFill>
                  <a:srgbClr val="52667A"/>
                </a:solidFill>
              </a:defRPr>
            </a:pPr>
            <a:r>
              <a:rPr sz="1275" b="0">
                <a:solidFill>
                  <a:srgbClr val="52667A"/>
                </a:solidFill>
              </a:rPr>
              <a:t>MAE: 0.763 ns</a:t>
            </a:r>
          </a:p>
        </p:txBody>
      </p:sp>
      <p:sp>
        <p:nvSpPr>
          <p:cNvPr id="13" name="Dikdörtgen: Köşeleri Yuvarlatılmış 12">
            <a:extLst>
              <a:ext uri="{FF2B5EF4-FFF2-40B4-BE49-F238E27FC236}">
                <a16:creationId xmlns:a16="http://schemas.microsoft.com/office/drawing/2014/main" id="{FCA1444D-633B-4BA7-9E9F-A5E0C99DC09E}"/>
              </a:ext>
            </a:extLst>
          </p:cNvPr>
          <p:cNvSpPr>
            <a:spLocks noGrp="1"/>
          </p:cNvSpPr>
          <p:nvPr/>
        </p:nvSpPr>
        <p:spPr>
          <a:xfrm>
            <a:off x="9858375" y="2143125"/>
            <a:ext cx="1619250" cy="1190625"/>
          </a:xfrm>
          <a:prstGeom prst="roundRect">
            <a:avLst>
              <a:gd name="adj" fmla="val 14400"/>
            </a:avLst>
          </a:prstGeom>
          <a:solidFill>
            <a:srgbClr val="FFFFFF"/>
          </a:solidFill>
          <a:ln w="9525">
            <a:solidFill>
              <a:srgbClr val="D7E0E8"/>
            </a:solidFill>
            <a:prstDash val="solid"/>
          </a:ln>
        </p:spPr>
        <p:txBody>
          <a:bodyPr/>
          <a:lstStyle/>
          <a:p>
            <a:endParaRPr lang="en-GB"/>
          </a:p>
        </p:txBody>
      </p:sp>
      <p:sp>
        <p:nvSpPr>
          <p:cNvPr id="14" name="Dikdörtgen 13">
            <a:extLst>
              <a:ext uri="{FF2B5EF4-FFF2-40B4-BE49-F238E27FC236}">
                <a16:creationId xmlns:a16="http://schemas.microsoft.com/office/drawing/2014/main" id="{B04DBF25-A2C2-45C8-9523-F6EFAFCE6053}"/>
              </a:ext>
            </a:extLst>
          </p:cNvPr>
          <p:cNvSpPr>
            <a:spLocks noGrp="1"/>
          </p:cNvSpPr>
          <p:nvPr/>
        </p:nvSpPr>
        <p:spPr>
          <a:xfrm>
            <a:off x="10048875" y="2314575"/>
            <a:ext cx="1238250" cy="457200"/>
          </a:xfrm>
          <a:prstGeom prst="rect">
            <a:avLst/>
          </a:prstGeom>
          <a:noFill/>
          <a:ln w="0">
            <a:noFill/>
            <a:prstDash val="solid"/>
          </a:ln>
        </p:spPr>
        <p:txBody>
          <a:bodyPr/>
          <a:lstStyle/>
          <a:p>
            <a:pPr>
              <a:defRPr sz="2325" b="1">
                <a:solidFill>
                  <a:srgbClr val="C62828"/>
                </a:solidFill>
              </a:defRPr>
            </a:pPr>
            <a:r>
              <a:rPr sz="2325" b="1">
                <a:solidFill>
                  <a:srgbClr val="C62828"/>
                </a:solidFill>
              </a:rPr>
              <a:t>37.70%</a:t>
            </a:r>
          </a:p>
        </p:txBody>
      </p:sp>
      <p:sp>
        <p:nvSpPr>
          <p:cNvPr id="15" name="Dikdörtgen 14">
            <a:extLst>
              <a:ext uri="{FF2B5EF4-FFF2-40B4-BE49-F238E27FC236}">
                <a16:creationId xmlns:a16="http://schemas.microsoft.com/office/drawing/2014/main" id="{F8F2B8D2-DD6B-4562-A03C-2FE71DDA023D}"/>
              </a:ext>
            </a:extLst>
          </p:cNvPr>
          <p:cNvSpPr>
            <a:spLocks noGrp="1"/>
          </p:cNvSpPr>
          <p:nvPr/>
        </p:nvSpPr>
        <p:spPr>
          <a:xfrm>
            <a:off x="10048875" y="2809875"/>
            <a:ext cx="1238250" cy="361950"/>
          </a:xfrm>
          <a:prstGeom prst="rect">
            <a:avLst/>
          </a:prstGeom>
          <a:noFill/>
          <a:ln w="0">
            <a:noFill/>
            <a:prstDash val="solid"/>
          </a:ln>
        </p:spPr>
        <p:txBody>
          <a:bodyPr/>
          <a:lstStyle/>
          <a:p>
            <a:pPr>
              <a:defRPr sz="1275" b="0">
                <a:solidFill>
                  <a:srgbClr val="52667A"/>
                </a:solidFill>
              </a:defRPr>
            </a:pPr>
            <a:r>
              <a:rPr sz="1275" b="0">
                <a:solidFill>
                  <a:srgbClr val="52667A"/>
                </a:solidFill>
              </a:rPr>
              <a:t>Power NMAE</a:t>
            </a:r>
          </a:p>
          <a:p>
            <a:pPr>
              <a:defRPr sz="1275" b="0">
                <a:solidFill>
                  <a:srgbClr val="52667A"/>
                </a:solidFill>
              </a:defRPr>
            </a:pPr>
            <a:r>
              <a:rPr sz="1275" b="0">
                <a:solidFill>
                  <a:srgbClr val="52667A"/>
                </a:solidFill>
              </a:rPr>
              <a:t>MAE: 0.0157 W</a:t>
            </a:r>
          </a:p>
        </p:txBody>
      </p:sp>
      <p:sp>
        <p:nvSpPr>
          <p:cNvPr id="16" name="Dikdörtgen 15">
            <a:extLst>
              <a:ext uri="{FF2B5EF4-FFF2-40B4-BE49-F238E27FC236}">
                <a16:creationId xmlns:a16="http://schemas.microsoft.com/office/drawing/2014/main" id="{91595F1D-0243-478D-A261-5A278C24A076}"/>
              </a:ext>
            </a:extLst>
          </p:cNvPr>
          <p:cNvSpPr>
            <a:spLocks noGrp="1"/>
          </p:cNvSpPr>
          <p:nvPr/>
        </p:nvSpPr>
        <p:spPr>
          <a:xfrm>
            <a:off x="6143625" y="3781425"/>
            <a:ext cx="1524000" cy="209550"/>
          </a:xfrm>
          <a:prstGeom prst="rect">
            <a:avLst/>
          </a:prstGeom>
          <a:noFill/>
          <a:ln w="0">
            <a:noFill/>
            <a:prstDash val="solid"/>
          </a:ln>
        </p:spPr>
        <p:txBody>
          <a:bodyPr/>
          <a:lstStyle/>
          <a:p>
            <a:pPr>
              <a:defRPr sz="1125" b="1">
                <a:solidFill>
                  <a:srgbClr val="7A8795"/>
                </a:solidFill>
              </a:defRPr>
            </a:pPr>
            <a:r>
              <a:rPr sz="1125" b="1">
                <a:solidFill>
                  <a:srgbClr val="7A8795"/>
                </a:solidFill>
              </a:rPr>
              <a:t>Best setup</a:t>
            </a:r>
          </a:p>
        </p:txBody>
      </p:sp>
      <p:sp>
        <p:nvSpPr>
          <p:cNvPr id="17" name="Dikdörtgen 16">
            <a:extLst>
              <a:ext uri="{FF2B5EF4-FFF2-40B4-BE49-F238E27FC236}">
                <a16:creationId xmlns:a16="http://schemas.microsoft.com/office/drawing/2014/main" id="{10634904-6C03-47D1-A34C-D19C347B731D}"/>
              </a:ext>
            </a:extLst>
          </p:cNvPr>
          <p:cNvSpPr>
            <a:spLocks noGrp="1"/>
          </p:cNvSpPr>
          <p:nvPr/>
        </p:nvSpPr>
        <p:spPr>
          <a:xfrm>
            <a:off x="6143625" y="4057650"/>
            <a:ext cx="1619250" cy="495300"/>
          </a:xfrm>
          <a:prstGeom prst="rect">
            <a:avLst/>
          </a:prstGeom>
          <a:noFill/>
          <a:ln w="0">
            <a:noFill/>
            <a:prstDash val="solid"/>
          </a:ln>
        </p:spPr>
        <p:txBody>
          <a:bodyPr/>
          <a:lstStyle/>
          <a:p>
            <a:pPr>
              <a:defRPr sz="1275" b="0">
                <a:solidFill>
                  <a:srgbClr val="172B4D"/>
                </a:solidFill>
              </a:defRPr>
            </a:pPr>
            <a:r>
              <a:rPr sz="1275" b="0" dirty="0">
                <a:solidFill>
                  <a:srgbClr val="172B4D"/>
                </a:solidFill>
              </a:rPr>
              <a:t>Elastic Net</a:t>
            </a:r>
          </a:p>
          <a:p>
            <a:pPr>
              <a:defRPr sz="1275" b="0">
                <a:solidFill>
                  <a:srgbClr val="172B4D"/>
                </a:solidFill>
              </a:defRPr>
            </a:pPr>
            <a:r>
              <a:rPr sz="1275" b="0" dirty="0">
                <a:solidFill>
                  <a:srgbClr val="172B4D"/>
                </a:solidFill>
              </a:rPr>
              <a:t>raw pre-</a:t>
            </a:r>
            <a:r>
              <a:rPr sz="1275" b="0" dirty="0" err="1">
                <a:solidFill>
                  <a:srgbClr val="172B4D"/>
                </a:solidFill>
              </a:rPr>
              <a:t>OpenROAD</a:t>
            </a:r>
            <a:endParaRPr sz="1275" b="0" dirty="0">
              <a:solidFill>
                <a:srgbClr val="172B4D"/>
              </a:solidFill>
            </a:endParaRPr>
          </a:p>
        </p:txBody>
      </p:sp>
      <p:sp>
        <p:nvSpPr>
          <p:cNvPr id="18" name="Dikdörtgen 17">
            <a:extLst>
              <a:ext uri="{FF2B5EF4-FFF2-40B4-BE49-F238E27FC236}">
                <a16:creationId xmlns:a16="http://schemas.microsoft.com/office/drawing/2014/main" id="{BC2978A7-CEF5-4161-8025-752911D661F3}"/>
              </a:ext>
            </a:extLst>
          </p:cNvPr>
          <p:cNvSpPr>
            <a:spLocks noGrp="1"/>
          </p:cNvSpPr>
          <p:nvPr/>
        </p:nvSpPr>
        <p:spPr>
          <a:xfrm>
            <a:off x="8001000" y="4057650"/>
            <a:ext cx="1619250" cy="495300"/>
          </a:xfrm>
          <a:prstGeom prst="rect">
            <a:avLst/>
          </a:prstGeom>
          <a:noFill/>
          <a:ln w="0">
            <a:noFill/>
            <a:prstDash val="solid"/>
          </a:ln>
        </p:spPr>
        <p:txBody>
          <a:bodyPr/>
          <a:lstStyle/>
          <a:p>
            <a:pPr>
              <a:defRPr sz="1275" b="0">
                <a:solidFill>
                  <a:srgbClr val="172B4D"/>
                </a:solidFill>
              </a:defRPr>
            </a:pPr>
            <a:r>
              <a:rPr sz="1275" b="0" dirty="0">
                <a:solidFill>
                  <a:srgbClr val="172B4D"/>
                </a:solidFill>
              </a:rPr>
              <a:t>Elastic Net</a:t>
            </a:r>
          </a:p>
          <a:p>
            <a:pPr>
              <a:defRPr sz="1275" b="0">
                <a:solidFill>
                  <a:srgbClr val="172B4D"/>
                </a:solidFill>
              </a:defRPr>
            </a:pPr>
            <a:r>
              <a:rPr sz="1275" b="0" dirty="0">
                <a:solidFill>
                  <a:srgbClr val="172B4D"/>
                </a:solidFill>
              </a:rPr>
              <a:t>derived ratios</a:t>
            </a:r>
          </a:p>
        </p:txBody>
      </p:sp>
      <p:sp>
        <p:nvSpPr>
          <p:cNvPr id="19" name="Dikdörtgen 18">
            <a:extLst>
              <a:ext uri="{FF2B5EF4-FFF2-40B4-BE49-F238E27FC236}">
                <a16:creationId xmlns:a16="http://schemas.microsoft.com/office/drawing/2014/main" id="{40F322A6-C718-4976-98ED-CCDD17A40D0E}"/>
              </a:ext>
            </a:extLst>
          </p:cNvPr>
          <p:cNvSpPr>
            <a:spLocks noGrp="1"/>
          </p:cNvSpPr>
          <p:nvPr/>
        </p:nvSpPr>
        <p:spPr>
          <a:xfrm>
            <a:off x="9858375" y="4057650"/>
            <a:ext cx="1619250" cy="495300"/>
          </a:xfrm>
          <a:prstGeom prst="rect">
            <a:avLst/>
          </a:prstGeom>
          <a:noFill/>
          <a:ln w="0">
            <a:noFill/>
            <a:prstDash val="solid"/>
          </a:ln>
        </p:spPr>
        <p:txBody>
          <a:bodyPr/>
          <a:lstStyle/>
          <a:p>
            <a:pPr>
              <a:defRPr sz="1275" b="0">
                <a:solidFill>
                  <a:srgbClr val="172B4D"/>
                </a:solidFill>
              </a:defRPr>
            </a:pPr>
            <a:r>
              <a:rPr sz="1275" b="0" dirty="0">
                <a:solidFill>
                  <a:srgbClr val="172B4D"/>
                </a:solidFill>
              </a:rPr>
              <a:t>Elastic Net</a:t>
            </a:r>
          </a:p>
          <a:p>
            <a:pPr>
              <a:defRPr sz="1275" b="0">
                <a:solidFill>
                  <a:srgbClr val="172B4D"/>
                </a:solidFill>
              </a:defRPr>
            </a:pPr>
            <a:r>
              <a:rPr sz="1275" b="0" dirty="0" err="1">
                <a:solidFill>
                  <a:srgbClr val="172B4D"/>
                </a:solidFill>
              </a:rPr>
              <a:t>Yosys</a:t>
            </a:r>
            <a:r>
              <a:rPr sz="1275" b="0" dirty="0">
                <a:solidFill>
                  <a:srgbClr val="172B4D"/>
                </a:solidFill>
              </a:rPr>
              <a:t>-only</a:t>
            </a:r>
          </a:p>
        </p:txBody>
      </p:sp>
      <p:sp>
        <p:nvSpPr>
          <p:cNvPr id="20" name="Dikdörtgen: Köşeleri Yuvarlatılmış 19">
            <a:extLst>
              <a:ext uri="{FF2B5EF4-FFF2-40B4-BE49-F238E27FC236}">
                <a16:creationId xmlns:a16="http://schemas.microsoft.com/office/drawing/2014/main" id="{4331F2B5-A595-40CF-846F-2D094648C10E}"/>
              </a:ext>
            </a:extLst>
          </p:cNvPr>
          <p:cNvSpPr>
            <a:spLocks noGrp="1"/>
          </p:cNvSpPr>
          <p:nvPr/>
        </p:nvSpPr>
        <p:spPr>
          <a:xfrm>
            <a:off x="6143625" y="5000625"/>
            <a:ext cx="5334000" cy="523875"/>
          </a:xfrm>
          <a:prstGeom prst="roundRect">
            <a:avLst>
              <a:gd name="adj" fmla="val 21818"/>
            </a:avLst>
          </a:prstGeom>
          <a:solidFill>
            <a:srgbClr val="FFF7ED"/>
          </a:solidFill>
          <a:ln w="9525">
            <a:solidFill>
              <a:srgbClr val="F6C98C"/>
            </a:solidFill>
            <a:prstDash val="solid"/>
          </a:ln>
        </p:spPr>
        <p:txBody>
          <a:bodyPr/>
          <a:lstStyle/>
          <a:p>
            <a:endParaRPr lang="en-GB"/>
          </a:p>
        </p:txBody>
      </p:sp>
      <p:sp>
        <p:nvSpPr>
          <p:cNvPr id="21" name="Dikdörtgen 20">
            <a:extLst>
              <a:ext uri="{FF2B5EF4-FFF2-40B4-BE49-F238E27FC236}">
                <a16:creationId xmlns:a16="http://schemas.microsoft.com/office/drawing/2014/main" id="{1AB7B640-566C-463E-AB06-9177544FB252}"/>
              </a:ext>
            </a:extLst>
          </p:cNvPr>
          <p:cNvSpPr>
            <a:spLocks noGrp="1"/>
          </p:cNvSpPr>
          <p:nvPr/>
        </p:nvSpPr>
        <p:spPr>
          <a:xfrm>
            <a:off x="6381750" y="5162550"/>
            <a:ext cx="4857750" cy="209550"/>
          </a:xfrm>
          <a:prstGeom prst="rect">
            <a:avLst/>
          </a:prstGeom>
          <a:noFill/>
          <a:ln w="0">
            <a:noFill/>
            <a:prstDash val="solid"/>
          </a:ln>
        </p:spPr>
        <p:txBody>
          <a:bodyPr/>
          <a:lstStyle/>
          <a:p>
            <a:pPr>
              <a:defRPr sz="1275" b="1">
                <a:solidFill>
                  <a:srgbClr val="D97706"/>
                </a:solidFill>
              </a:defRPr>
            </a:pPr>
            <a:r>
              <a:rPr sz="1275" b="1">
                <a:solidFill>
                  <a:srgbClr val="D97706"/>
                </a:solidFill>
              </a:rPr>
              <a:t>Power: exploratory - skewed and clock-sensitive.</a:t>
            </a:r>
          </a:p>
        </p:txBody>
      </p:sp>
      <p:sp>
        <p:nvSpPr>
          <p:cNvPr id="22" name="Dikdörtgen 21">
            <a:extLst>
              <a:ext uri="{FF2B5EF4-FFF2-40B4-BE49-F238E27FC236}">
                <a16:creationId xmlns:a16="http://schemas.microsoft.com/office/drawing/2014/main" id="{1AF4BF2F-F14B-44DE-BF0D-4D390CE852A7}"/>
              </a:ext>
            </a:extLst>
          </p:cNvPr>
          <p:cNvSpPr>
            <a:spLocks noGrp="1"/>
          </p:cNvSpPr>
          <p:nvPr/>
        </p:nvSpPr>
        <p:spPr>
          <a:xfrm>
            <a:off x="666750" y="6477000"/>
            <a:ext cx="7143750" cy="171450"/>
          </a:xfrm>
          <a:prstGeom prst="rect">
            <a:avLst/>
          </a:prstGeom>
          <a:noFill/>
          <a:ln w="0">
            <a:noFill/>
            <a:prstDash val="solid"/>
          </a:ln>
        </p:spPr>
        <p:txBody>
          <a:bodyPr/>
          <a:lstStyle/>
          <a:p>
            <a:pPr>
              <a:defRPr sz="825" b="0">
                <a:solidFill>
                  <a:srgbClr val="7A8795"/>
                </a:solidFill>
              </a:defRPr>
            </a:pPr>
            <a:r>
              <a:rPr sz="825" b="0">
                <a:solidFill>
                  <a:srgbClr val="7A8795"/>
                </a:solidFill>
              </a:rPr>
              <a:t>Advanced Computer Architectures | Politecnico di Milano</a:t>
            </a:r>
          </a:p>
        </p:txBody>
      </p:sp>
      <p:sp>
        <p:nvSpPr>
          <p:cNvPr id="23" name="Dikdörtgen 22">
            <a:extLst>
              <a:ext uri="{FF2B5EF4-FFF2-40B4-BE49-F238E27FC236}">
                <a16:creationId xmlns:a16="http://schemas.microsoft.com/office/drawing/2014/main" id="{8A6D9AB2-B217-40E7-9540-BD30ED38D80B}"/>
              </a:ext>
            </a:extLst>
          </p:cNvPr>
          <p:cNvSpPr>
            <a:spLocks noGrp="1"/>
          </p:cNvSpPr>
          <p:nvPr/>
        </p:nvSpPr>
        <p:spPr>
          <a:xfrm>
            <a:off x="10782300" y="6477000"/>
            <a:ext cx="742950" cy="171450"/>
          </a:xfrm>
          <a:prstGeom prst="rect">
            <a:avLst/>
          </a:prstGeom>
          <a:noFill/>
          <a:ln w="0">
            <a:noFill/>
            <a:prstDash val="solid"/>
          </a:ln>
        </p:spPr>
        <p:txBody>
          <a:bodyPr/>
          <a:lstStyle/>
          <a:p>
            <a:pPr>
              <a:defRPr sz="825" b="0">
                <a:solidFill>
                  <a:srgbClr val="7A8795"/>
                </a:solidFill>
              </a:defRPr>
            </a:pPr>
            <a:r>
              <a:rPr sz="825" b="0">
                <a:solidFill>
                  <a:srgbClr val="7A8795"/>
                </a:solidFill>
              </a:rPr>
              <a:t>7 / 10</a:t>
            </a:r>
          </a:p>
        </p:txBody>
      </p:sp>
    </p:spTree>
    <p:extLst>
      <p:ext uri="{BB962C8B-B14F-4D97-AF65-F5344CB8AC3E}">
        <p14:creationId xmlns:p14="http://schemas.microsoft.com/office/powerpoint/2010/main" val="221688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Dikdörtgen 4">
            <a:extLst>
              <a:ext uri="{FF2B5EF4-FFF2-40B4-BE49-F238E27FC236}">
                <a16:creationId xmlns:a16="http://schemas.microsoft.com/office/drawing/2014/main" id="{1F8F9DAC-EEEA-43A6-BC8F-3B38E89368DE}"/>
              </a:ext>
            </a:extLst>
          </p:cNvPr>
          <p:cNvSpPr>
            <a:spLocks noGrp="1"/>
          </p:cNvSpPr>
          <p:nvPr/>
        </p:nvSpPr>
        <p:spPr>
          <a:xfrm>
            <a:off x="666750" y="400050"/>
            <a:ext cx="495300" cy="228600"/>
          </a:xfrm>
          <a:prstGeom prst="rect">
            <a:avLst/>
          </a:prstGeom>
          <a:noFill/>
          <a:ln w="0">
            <a:noFill/>
            <a:prstDash val="solid"/>
          </a:ln>
        </p:spPr>
        <p:txBody>
          <a:bodyPr/>
          <a:lstStyle/>
          <a:p>
            <a:pPr>
              <a:defRPr sz="1050" b="1">
                <a:solidFill>
                  <a:srgbClr val="C62828"/>
                </a:solidFill>
              </a:defRPr>
            </a:pPr>
            <a:r>
              <a:rPr sz="1050" b="1">
                <a:solidFill>
                  <a:srgbClr val="C62828"/>
                </a:solidFill>
              </a:rPr>
              <a:t>08</a:t>
            </a:r>
          </a:p>
        </p:txBody>
      </p:sp>
      <p:sp>
        <p:nvSpPr>
          <p:cNvPr id="2" name="Dikdörtgen 1">
            <a:extLst>
              <a:ext uri="{FF2B5EF4-FFF2-40B4-BE49-F238E27FC236}">
                <a16:creationId xmlns:a16="http://schemas.microsoft.com/office/drawing/2014/main" id="{18A70801-E5CE-4237-83BE-B34C3DDA76CA}"/>
              </a:ext>
            </a:extLst>
          </p:cNvPr>
          <p:cNvSpPr>
            <a:spLocks noGrp="1"/>
          </p:cNvSpPr>
          <p:nvPr/>
        </p:nvSpPr>
        <p:spPr>
          <a:xfrm>
            <a:off x="666750" y="666750"/>
            <a:ext cx="10096500" cy="495300"/>
          </a:xfrm>
          <a:prstGeom prst="rect">
            <a:avLst/>
          </a:prstGeom>
          <a:noFill/>
          <a:ln w="0">
            <a:noFill/>
            <a:prstDash val="solid"/>
          </a:ln>
        </p:spPr>
        <p:txBody>
          <a:bodyPr/>
          <a:lstStyle/>
          <a:p>
            <a:pPr>
              <a:defRPr sz="2550" b="1">
                <a:solidFill>
                  <a:srgbClr val="102A43"/>
                </a:solidFill>
              </a:defRPr>
            </a:pPr>
            <a:r>
              <a:rPr sz="2550" b="1">
                <a:solidFill>
                  <a:srgbClr val="102A43"/>
                </a:solidFill>
              </a:rPr>
              <a:t>Physical effects: post-routing analysis only</a:t>
            </a:r>
          </a:p>
        </p:txBody>
      </p:sp>
      <p:sp>
        <p:nvSpPr>
          <p:cNvPr id="3" name="Dikdörtgen 2">
            <a:extLst>
              <a:ext uri="{FF2B5EF4-FFF2-40B4-BE49-F238E27FC236}">
                <a16:creationId xmlns:a16="http://schemas.microsoft.com/office/drawing/2014/main" id="{9E17785F-4C60-40AD-8020-EBA991E2E3B7}"/>
              </a:ext>
            </a:extLst>
          </p:cNvPr>
          <p:cNvSpPr>
            <a:spLocks noGrp="1"/>
          </p:cNvSpPr>
          <p:nvPr/>
        </p:nvSpPr>
        <p:spPr>
          <a:xfrm>
            <a:off x="666750" y="1543050"/>
            <a:ext cx="10858500" cy="19050"/>
          </a:xfrm>
          <a:prstGeom prst="rect">
            <a:avLst/>
          </a:prstGeom>
          <a:solidFill>
            <a:srgbClr val="C62828"/>
          </a:solidFill>
          <a:ln w="0">
            <a:noFill/>
            <a:prstDash val="solid"/>
          </a:ln>
        </p:spPr>
        <p:txBody>
          <a:bodyPr/>
          <a:lstStyle/>
          <a:p>
            <a:endParaRPr lang="en-GB"/>
          </a:p>
        </p:txBody>
      </p:sp>
      <p:sp>
        <p:nvSpPr>
          <p:cNvPr id="4" name="Dikdörtgen: Köşeleri Yuvarlatılmış 3">
            <a:extLst>
              <a:ext uri="{FF2B5EF4-FFF2-40B4-BE49-F238E27FC236}">
                <a16:creationId xmlns:a16="http://schemas.microsoft.com/office/drawing/2014/main" id="{EB5AB5A7-9F97-454E-B81A-E1B6804706B2}"/>
              </a:ext>
            </a:extLst>
          </p:cNvPr>
          <p:cNvSpPr>
            <a:spLocks noGrp="1"/>
          </p:cNvSpPr>
          <p:nvPr/>
        </p:nvSpPr>
        <p:spPr>
          <a:xfrm>
            <a:off x="666750" y="1857375"/>
            <a:ext cx="5429250" cy="3429000"/>
          </a:xfrm>
          <a:prstGeom prst="roundRect">
            <a:avLst>
              <a:gd name="adj" fmla="val 4444"/>
            </a:avLst>
          </a:prstGeom>
          <a:solidFill>
            <a:srgbClr val="FFFFFF"/>
          </a:solidFill>
          <a:ln w="9525">
            <a:solidFill>
              <a:srgbClr val="D7E0E8"/>
            </a:solidFill>
            <a:prstDash val="solid"/>
          </a:ln>
        </p:spPr>
        <p:txBody>
          <a:bodyPr/>
          <a:lstStyle/>
          <a:p>
            <a:endParaRPr lang="en-GB"/>
          </a:p>
        </p:txBody>
      </p:sp>
      <p:pic>
        <p:nvPicPr>
          <p:cNvPr id="20" name="Resim 19"/>
          <p:cNvPicPr>
            <a:picLocks noChangeAspect="1"/>
          </p:cNvPicPr>
          <p:nvPr/>
        </p:nvPicPr>
        <p:blipFill>
          <a:blip r:embed="rId3"/>
          <a:stretch/>
        </p:blipFill>
        <p:spPr>
          <a:xfrm>
            <a:off x="1446483" y="2095500"/>
            <a:ext cx="3869785" cy="2714625"/>
          </a:xfrm>
          <a:prstGeom prst="rect">
            <a:avLst/>
          </a:prstGeom>
        </p:spPr>
      </p:pic>
      <p:sp>
        <p:nvSpPr>
          <p:cNvPr id="6" name="Dikdörtgen 5">
            <a:extLst>
              <a:ext uri="{FF2B5EF4-FFF2-40B4-BE49-F238E27FC236}">
                <a16:creationId xmlns:a16="http://schemas.microsoft.com/office/drawing/2014/main" id="{6FCD899E-1D47-4277-8D9F-B9DC68D5BB6E}"/>
              </a:ext>
            </a:extLst>
          </p:cNvPr>
          <p:cNvSpPr>
            <a:spLocks noGrp="1"/>
          </p:cNvSpPr>
          <p:nvPr/>
        </p:nvSpPr>
        <p:spPr>
          <a:xfrm>
            <a:off x="1476375" y="4857750"/>
            <a:ext cx="3762375" cy="180975"/>
          </a:xfrm>
          <a:prstGeom prst="rect">
            <a:avLst/>
          </a:prstGeom>
          <a:noFill/>
          <a:ln w="0">
            <a:noFill/>
            <a:prstDash val="solid"/>
          </a:ln>
        </p:spPr>
        <p:txBody>
          <a:bodyPr/>
          <a:lstStyle/>
          <a:p>
            <a:pPr>
              <a:defRPr sz="975" b="0">
                <a:solidFill>
                  <a:srgbClr val="7A8795"/>
                </a:solidFill>
              </a:defRPr>
            </a:pPr>
            <a:r>
              <a:rPr sz="975" b="0">
                <a:solidFill>
                  <a:srgbClr val="7A8795"/>
                </a:solidFill>
              </a:rPr>
              <a:t>Report Figure 2 - post-routing correlations</a:t>
            </a:r>
          </a:p>
        </p:txBody>
      </p:sp>
      <p:sp>
        <p:nvSpPr>
          <p:cNvPr id="7" name="Dikdörtgen: Köşeleri Yuvarlatılmış 6">
            <a:extLst>
              <a:ext uri="{FF2B5EF4-FFF2-40B4-BE49-F238E27FC236}">
                <a16:creationId xmlns:a16="http://schemas.microsoft.com/office/drawing/2014/main" id="{EC6075CF-3A13-4254-80C9-6F7132346EB4}"/>
              </a:ext>
            </a:extLst>
          </p:cNvPr>
          <p:cNvSpPr>
            <a:spLocks noGrp="1"/>
          </p:cNvSpPr>
          <p:nvPr/>
        </p:nvSpPr>
        <p:spPr>
          <a:xfrm>
            <a:off x="6572250" y="1857375"/>
            <a:ext cx="4286250" cy="1381125"/>
          </a:xfrm>
          <a:prstGeom prst="roundRect">
            <a:avLst>
              <a:gd name="adj" fmla="val 11034"/>
            </a:avLst>
          </a:prstGeom>
          <a:solidFill>
            <a:srgbClr val="F3F6F8"/>
          </a:solidFill>
          <a:ln w="9525">
            <a:solidFill>
              <a:srgbClr val="D7E0E8"/>
            </a:solidFill>
            <a:prstDash val="solid"/>
          </a:ln>
        </p:spPr>
        <p:txBody>
          <a:bodyPr/>
          <a:lstStyle/>
          <a:p>
            <a:endParaRPr lang="en-GB"/>
          </a:p>
        </p:txBody>
      </p:sp>
      <p:sp>
        <p:nvSpPr>
          <p:cNvPr id="8" name="Dikdörtgen 7">
            <a:extLst>
              <a:ext uri="{FF2B5EF4-FFF2-40B4-BE49-F238E27FC236}">
                <a16:creationId xmlns:a16="http://schemas.microsoft.com/office/drawing/2014/main" id="{C22EC778-4E4E-4CF6-8F2D-47FAD862D431}"/>
              </a:ext>
            </a:extLst>
          </p:cNvPr>
          <p:cNvSpPr>
            <a:spLocks noGrp="1"/>
          </p:cNvSpPr>
          <p:nvPr/>
        </p:nvSpPr>
        <p:spPr>
          <a:xfrm>
            <a:off x="6838950" y="2095500"/>
            <a:ext cx="3190875" cy="238125"/>
          </a:xfrm>
          <a:prstGeom prst="rect">
            <a:avLst/>
          </a:prstGeom>
          <a:noFill/>
          <a:ln w="0">
            <a:noFill/>
            <a:prstDash val="solid"/>
          </a:ln>
        </p:spPr>
        <p:txBody>
          <a:bodyPr/>
          <a:lstStyle/>
          <a:p>
            <a:pPr>
              <a:defRPr sz="1500" b="1">
                <a:solidFill>
                  <a:srgbClr val="102A43"/>
                </a:solidFill>
              </a:defRPr>
            </a:pPr>
            <a:r>
              <a:rPr sz="1500" b="1">
                <a:solidFill>
                  <a:srgbClr val="102A43"/>
                </a:solidFill>
              </a:rPr>
              <a:t>Observed artifacts and closure</a:t>
            </a:r>
          </a:p>
        </p:txBody>
      </p:sp>
      <p:sp>
        <p:nvSpPr>
          <p:cNvPr id="9" name="Dikdörtgen 8">
            <a:extLst>
              <a:ext uri="{FF2B5EF4-FFF2-40B4-BE49-F238E27FC236}">
                <a16:creationId xmlns:a16="http://schemas.microsoft.com/office/drawing/2014/main" id="{35A8AD4F-4A51-4C62-A132-B55A411E2C87}"/>
              </a:ext>
            </a:extLst>
          </p:cNvPr>
          <p:cNvSpPr>
            <a:spLocks noGrp="1"/>
          </p:cNvSpPr>
          <p:nvPr/>
        </p:nvSpPr>
        <p:spPr>
          <a:xfrm>
            <a:off x="6838950" y="2476500"/>
            <a:ext cx="3333750" cy="685800"/>
          </a:xfrm>
          <a:prstGeom prst="rect">
            <a:avLst/>
          </a:prstGeom>
          <a:noFill/>
          <a:ln w="0">
            <a:noFill/>
            <a:prstDash val="solid"/>
          </a:ln>
        </p:spPr>
        <p:txBody>
          <a:bodyPr/>
          <a:lstStyle/>
          <a:p>
            <a:pPr>
              <a:defRPr sz="1350" b="0">
                <a:solidFill>
                  <a:srgbClr val="172B4D"/>
                </a:solidFill>
              </a:defRPr>
            </a:pPr>
            <a:r>
              <a:rPr sz="1350" b="0">
                <a:solidFill>
                  <a:srgbClr val="172B4D"/>
                </a:solidFill>
              </a:rPr>
              <a:t>18 DEF + route guide + DRC reports</a:t>
            </a:r>
          </a:p>
          <a:p>
            <a:pPr>
              <a:defRPr sz="1350" b="0">
                <a:solidFill>
                  <a:srgbClr val="172B4D"/>
                </a:solidFill>
              </a:defRPr>
            </a:pPr>
            <a:r>
              <a:rPr sz="1350" b="0">
                <a:solidFill>
                  <a:srgbClr val="172B4D"/>
                </a:solidFill>
              </a:rPr>
              <a:t>Setup / hold / max-slew: 0 violations</a:t>
            </a:r>
          </a:p>
          <a:p>
            <a:pPr>
              <a:defRPr sz="1350" b="0">
                <a:solidFill>
                  <a:srgbClr val="172B4D"/>
                </a:solidFill>
              </a:defRPr>
            </a:pPr>
            <a:r>
              <a:rPr sz="1350" b="0">
                <a:solidFill>
                  <a:srgbClr val="172B4D"/>
                </a:solidFill>
              </a:rPr>
              <a:t>Max capacitance: 3 total, 2 max/design</a:t>
            </a:r>
          </a:p>
        </p:txBody>
      </p:sp>
      <p:sp>
        <p:nvSpPr>
          <p:cNvPr id="10" name="Dikdörtgen: Köşeleri Yuvarlatılmış 9">
            <a:extLst>
              <a:ext uri="{FF2B5EF4-FFF2-40B4-BE49-F238E27FC236}">
                <a16:creationId xmlns:a16="http://schemas.microsoft.com/office/drawing/2014/main" id="{77DA962E-0B3B-406D-B974-293A44D465F8}"/>
              </a:ext>
            </a:extLst>
          </p:cNvPr>
          <p:cNvSpPr>
            <a:spLocks noGrp="1"/>
          </p:cNvSpPr>
          <p:nvPr/>
        </p:nvSpPr>
        <p:spPr>
          <a:xfrm>
            <a:off x="6572250" y="3524250"/>
            <a:ext cx="4286250" cy="1762125"/>
          </a:xfrm>
          <a:prstGeom prst="roundRect">
            <a:avLst>
              <a:gd name="adj" fmla="val 8649"/>
            </a:avLst>
          </a:prstGeom>
          <a:solidFill>
            <a:srgbClr val="FFF7ED"/>
          </a:solidFill>
          <a:ln w="9525">
            <a:solidFill>
              <a:srgbClr val="F6C98C"/>
            </a:solidFill>
            <a:prstDash val="solid"/>
          </a:ln>
        </p:spPr>
        <p:txBody>
          <a:bodyPr/>
          <a:lstStyle/>
          <a:p>
            <a:endParaRPr lang="en-GB"/>
          </a:p>
        </p:txBody>
      </p:sp>
      <p:sp>
        <p:nvSpPr>
          <p:cNvPr id="11" name="Dikdörtgen 10">
            <a:extLst>
              <a:ext uri="{FF2B5EF4-FFF2-40B4-BE49-F238E27FC236}">
                <a16:creationId xmlns:a16="http://schemas.microsoft.com/office/drawing/2014/main" id="{6D9008AD-D4B8-4F08-8484-A7BCE37D75BD}"/>
              </a:ext>
            </a:extLst>
          </p:cNvPr>
          <p:cNvSpPr>
            <a:spLocks noGrp="1"/>
          </p:cNvSpPr>
          <p:nvPr/>
        </p:nvSpPr>
        <p:spPr>
          <a:xfrm>
            <a:off x="6838950" y="3762375"/>
            <a:ext cx="2476500" cy="238125"/>
          </a:xfrm>
          <a:prstGeom prst="rect">
            <a:avLst/>
          </a:prstGeom>
          <a:noFill/>
          <a:ln w="0">
            <a:noFill/>
            <a:prstDash val="solid"/>
          </a:ln>
        </p:spPr>
        <p:txBody>
          <a:bodyPr/>
          <a:lstStyle/>
          <a:p>
            <a:pPr>
              <a:defRPr sz="1500" b="1">
                <a:solidFill>
                  <a:srgbClr val="D97706"/>
                </a:solidFill>
              </a:defRPr>
            </a:pPr>
            <a:r>
              <a:rPr sz="1500" b="1">
                <a:solidFill>
                  <a:srgbClr val="D97706"/>
                </a:solidFill>
              </a:rPr>
              <a:t>Selected correlations</a:t>
            </a:r>
          </a:p>
        </p:txBody>
      </p:sp>
      <p:sp>
        <p:nvSpPr>
          <p:cNvPr id="12" name="Dikdörtgen 11">
            <a:extLst>
              <a:ext uri="{FF2B5EF4-FFF2-40B4-BE49-F238E27FC236}">
                <a16:creationId xmlns:a16="http://schemas.microsoft.com/office/drawing/2014/main" id="{B96B2D49-3608-4D98-A7C2-B28D0EA03B67}"/>
              </a:ext>
            </a:extLst>
          </p:cNvPr>
          <p:cNvSpPr>
            <a:spLocks noGrp="1"/>
          </p:cNvSpPr>
          <p:nvPr/>
        </p:nvSpPr>
        <p:spPr>
          <a:xfrm>
            <a:off x="6838950" y="4143375"/>
            <a:ext cx="3524250" cy="809625"/>
          </a:xfrm>
          <a:prstGeom prst="rect">
            <a:avLst/>
          </a:prstGeom>
          <a:noFill/>
          <a:ln w="0">
            <a:noFill/>
            <a:prstDash val="solid"/>
          </a:ln>
        </p:spPr>
        <p:txBody>
          <a:bodyPr/>
          <a:lstStyle/>
          <a:p>
            <a:pPr>
              <a:defRPr sz="1200" b="0">
                <a:solidFill>
                  <a:srgbClr val="172B4D"/>
                </a:solidFill>
              </a:defRPr>
            </a:pPr>
            <a:r>
              <a:rPr sz="1200" b="0">
                <a:solidFill>
                  <a:srgbClr val="172B4D"/>
                </a:solidFill>
              </a:rPr>
              <a:t>Area: routed nets 0.9978 · guide nonempty 0.9974</a:t>
            </a:r>
          </a:p>
          <a:p>
            <a:pPr>
              <a:defRPr sz="1200" b="0">
                <a:solidFill>
                  <a:srgbClr val="172B4D"/>
                </a:solidFill>
              </a:defRPr>
            </a:pPr>
            <a:r>
              <a:rPr sz="1200" b="0">
                <a:solidFill>
                  <a:srgbClr val="172B4D"/>
                </a:solidFill>
              </a:rPr>
              <a:t>Area: guide segments 0.9968 · approx. wirelength 0.9315</a:t>
            </a:r>
          </a:p>
          <a:p>
            <a:pPr>
              <a:defRPr sz="1200" b="0">
                <a:solidFill>
                  <a:srgbClr val="172B4D"/>
                </a:solidFill>
              </a:defRPr>
            </a:pPr>
            <a:r>
              <a:rPr sz="1200" b="0">
                <a:solidFill>
                  <a:srgbClr val="172B4D"/>
                </a:solidFill>
              </a:rPr>
              <a:t>Delay: DEF pairs 0.7149 · guide segments 0.7083</a:t>
            </a:r>
          </a:p>
        </p:txBody>
      </p:sp>
      <p:sp>
        <p:nvSpPr>
          <p:cNvPr id="13" name="Dikdörtgen 12">
            <a:extLst>
              <a:ext uri="{FF2B5EF4-FFF2-40B4-BE49-F238E27FC236}">
                <a16:creationId xmlns:a16="http://schemas.microsoft.com/office/drawing/2014/main" id="{7A7482BB-B51A-4325-AED3-ABE15A07375B}"/>
              </a:ext>
            </a:extLst>
          </p:cNvPr>
          <p:cNvSpPr>
            <a:spLocks noGrp="1"/>
          </p:cNvSpPr>
          <p:nvPr/>
        </p:nvSpPr>
        <p:spPr>
          <a:xfrm>
            <a:off x="666750" y="5619750"/>
            <a:ext cx="10191750" cy="400050"/>
          </a:xfrm>
          <a:prstGeom prst="rect">
            <a:avLst/>
          </a:prstGeom>
          <a:noFill/>
          <a:ln w="0">
            <a:noFill/>
            <a:prstDash val="solid"/>
          </a:ln>
        </p:spPr>
        <p:txBody>
          <a:bodyPr/>
          <a:lstStyle/>
          <a:p>
            <a:pPr>
              <a:defRPr sz="1275" b="0">
                <a:solidFill>
                  <a:srgbClr val="52667A"/>
                </a:solidFill>
              </a:defRPr>
            </a:pPr>
            <a:r>
              <a:rPr sz="1275" b="0">
                <a:solidFill>
                  <a:srgbClr val="52667A"/>
                </a:solidFill>
              </a:rPr>
              <a:t>Wirelength is Manhattan-distance approximation from DEF coordinate sequences - not official router wirelength. DRC: 12 clean/empty, 6 possible violations, 7 keyword hits (max 2).</a:t>
            </a:r>
          </a:p>
        </p:txBody>
      </p:sp>
      <p:sp>
        <p:nvSpPr>
          <p:cNvPr id="14" name="Dikdörtgen 13">
            <a:extLst>
              <a:ext uri="{FF2B5EF4-FFF2-40B4-BE49-F238E27FC236}">
                <a16:creationId xmlns:a16="http://schemas.microsoft.com/office/drawing/2014/main" id="{C2027CB7-4704-4ABA-8EA9-E11D0085AABF}"/>
              </a:ext>
            </a:extLst>
          </p:cNvPr>
          <p:cNvSpPr>
            <a:spLocks noGrp="1"/>
          </p:cNvSpPr>
          <p:nvPr/>
        </p:nvSpPr>
        <p:spPr>
          <a:xfrm>
            <a:off x="666750" y="6477000"/>
            <a:ext cx="7143750" cy="171450"/>
          </a:xfrm>
          <a:prstGeom prst="rect">
            <a:avLst/>
          </a:prstGeom>
          <a:noFill/>
          <a:ln w="0">
            <a:noFill/>
            <a:prstDash val="solid"/>
          </a:ln>
        </p:spPr>
        <p:txBody>
          <a:bodyPr/>
          <a:lstStyle/>
          <a:p>
            <a:pPr>
              <a:defRPr sz="825" b="0">
                <a:solidFill>
                  <a:srgbClr val="7A8795"/>
                </a:solidFill>
              </a:defRPr>
            </a:pPr>
            <a:r>
              <a:rPr sz="825" b="0">
                <a:solidFill>
                  <a:srgbClr val="7A8795"/>
                </a:solidFill>
              </a:rPr>
              <a:t>Advanced Computer Architectures | Politecnico di Milano</a:t>
            </a:r>
          </a:p>
        </p:txBody>
      </p:sp>
      <p:sp>
        <p:nvSpPr>
          <p:cNvPr id="15" name="Dikdörtgen 14">
            <a:extLst>
              <a:ext uri="{FF2B5EF4-FFF2-40B4-BE49-F238E27FC236}">
                <a16:creationId xmlns:a16="http://schemas.microsoft.com/office/drawing/2014/main" id="{FDD07E52-A740-4308-8FF2-56DE6304B746}"/>
              </a:ext>
            </a:extLst>
          </p:cNvPr>
          <p:cNvSpPr>
            <a:spLocks noGrp="1"/>
          </p:cNvSpPr>
          <p:nvPr/>
        </p:nvSpPr>
        <p:spPr>
          <a:xfrm>
            <a:off x="10782300" y="6477000"/>
            <a:ext cx="742950" cy="171450"/>
          </a:xfrm>
          <a:prstGeom prst="rect">
            <a:avLst/>
          </a:prstGeom>
          <a:noFill/>
          <a:ln w="0">
            <a:noFill/>
            <a:prstDash val="solid"/>
          </a:ln>
        </p:spPr>
        <p:txBody>
          <a:bodyPr/>
          <a:lstStyle/>
          <a:p>
            <a:pPr>
              <a:defRPr sz="825" b="0">
                <a:solidFill>
                  <a:srgbClr val="7A8795"/>
                </a:solidFill>
              </a:defRPr>
            </a:pPr>
            <a:r>
              <a:rPr sz="825" b="0">
                <a:solidFill>
                  <a:srgbClr val="7A8795"/>
                </a:solidFill>
              </a:rPr>
              <a:t>8 / 10</a:t>
            </a:r>
          </a:p>
        </p:txBody>
      </p:sp>
    </p:spTree>
    <p:extLst>
      <p:ext uri="{BB962C8B-B14F-4D97-AF65-F5344CB8AC3E}">
        <p14:creationId xmlns:p14="http://schemas.microsoft.com/office/powerpoint/2010/main" val="1392361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Dikdörtgen 26">
            <a:extLst>
              <a:ext uri="{FF2B5EF4-FFF2-40B4-BE49-F238E27FC236}">
                <a16:creationId xmlns:a16="http://schemas.microsoft.com/office/drawing/2014/main" id="{7912B7A5-5B56-4B00-B8D6-5CB82AF5BEAE}"/>
              </a:ext>
            </a:extLst>
          </p:cNvPr>
          <p:cNvSpPr>
            <a:spLocks noGrp="1"/>
          </p:cNvSpPr>
          <p:nvPr/>
        </p:nvSpPr>
        <p:spPr>
          <a:xfrm>
            <a:off x="666750" y="400050"/>
            <a:ext cx="495300" cy="228600"/>
          </a:xfrm>
          <a:prstGeom prst="rect">
            <a:avLst/>
          </a:prstGeom>
          <a:noFill/>
          <a:ln w="0">
            <a:noFill/>
            <a:prstDash val="solid"/>
          </a:ln>
        </p:spPr>
        <p:txBody>
          <a:bodyPr/>
          <a:lstStyle/>
          <a:p>
            <a:pPr>
              <a:defRPr sz="1050" b="1">
                <a:solidFill>
                  <a:srgbClr val="C62828"/>
                </a:solidFill>
              </a:defRPr>
            </a:pPr>
            <a:r>
              <a:rPr sz="1050" b="1">
                <a:solidFill>
                  <a:srgbClr val="C62828"/>
                </a:solidFill>
              </a:rPr>
              <a:t>09</a:t>
            </a:r>
          </a:p>
        </p:txBody>
      </p:sp>
      <p:sp>
        <p:nvSpPr>
          <p:cNvPr id="2" name="Dikdörtgen 1">
            <a:extLst>
              <a:ext uri="{FF2B5EF4-FFF2-40B4-BE49-F238E27FC236}">
                <a16:creationId xmlns:a16="http://schemas.microsoft.com/office/drawing/2014/main" id="{6E78CE9F-87DD-47DF-944A-DFFE07728E47}"/>
              </a:ext>
            </a:extLst>
          </p:cNvPr>
          <p:cNvSpPr>
            <a:spLocks noGrp="1"/>
          </p:cNvSpPr>
          <p:nvPr/>
        </p:nvSpPr>
        <p:spPr>
          <a:xfrm>
            <a:off x="666750" y="666750"/>
            <a:ext cx="10096500" cy="495300"/>
          </a:xfrm>
          <a:prstGeom prst="rect">
            <a:avLst/>
          </a:prstGeom>
          <a:noFill/>
          <a:ln w="0">
            <a:noFill/>
            <a:prstDash val="solid"/>
          </a:ln>
        </p:spPr>
        <p:txBody>
          <a:bodyPr/>
          <a:lstStyle/>
          <a:p>
            <a:pPr>
              <a:defRPr sz="2550" b="1">
                <a:solidFill>
                  <a:srgbClr val="102A43"/>
                </a:solidFill>
              </a:defRPr>
            </a:pPr>
            <a:r>
              <a:rPr sz="2550" b="1">
                <a:solidFill>
                  <a:srgbClr val="102A43"/>
                </a:solidFill>
              </a:rPr>
              <a:t>Limitations define the next experiments</a:t>
            </a:r>
          </a:p>
        </p:txBody>
      </p:sp>
      <p:sp>
        <p:nvSpPr>
          <p:cNvPr id="3" name="Dikdörtgen 2">
            <a:extLst>
              <a:ext uri="{FF2B5EF4-FFF2-40B4-BE49-F238E27FC236}">
                <a16:creationId xmlns:a16="http://schemas.microsoft.com/office/drawing/2014/main" id="{F7DCFCFF-AB0B-4B82-AA02-F5FC9B877927}"/>
              </a:ext>
            </a:extLst>
          </p:cNvPr>
          <p:cNvSpPr>
            <a:spLocks noGrp="1"/>
          </p:cNvSpPr>
          <p:nvPr/>
        </p:nvSpPr>
        <p:spPr>
          <a:xfrm>
            <a:off x="666750" y="1543050"/>
            <a:ext cx="10858500" cy="19050"/>
          </a:xfrm>
          <a:prstGeom prst="rect">
            <a:avLst/>
          </a:prstGeom>
          <a:solidFill>
            <a:srgbClr val="C62828"/>
          </a:solidFill>
          <a:ln w="0">
            <a:noFill/>
            <a:prstDash val="solid"/>
          </a:ln>
        </p:spPr>
        <p:txBody>
          <a:bodyPr/>
          <a:lstStyle/>
          <a:p>
            <a:endParaRPr lang="en-GB"/>
          </a:p>
        </p:txBody>
      </p:sp>
      <p:sp>
        <p:nvSpPr>
          <p:cNvPr id="4" name="Dikdörtgen: Köşeleri Yuvarlatılmış 3">
            <a:extLst>
              <a:ext uri="{FF2B5EF4-FFF2-40B4-BE49-F238E27FC236}">
                <a16:creationId xmlns:a16="http://schemas.microsoft.com/office/drawing/2014/main" id="{D429A22D-25F9-4D5E-9B67-2DEE9AD54C57}"/>
              </a:ext>
            </a:extLst>
          </p:cNvPr>
          <p:cNvSpPr>
            <a:spLocks noGrp="1"/>
          </p:cNvSpPr>
          <p:nvPr/>
        </p:nvSpPr>
        <p:spPr>
          <a:xfrm>
            <a:off x="666750" y="1952625"/>
            <a:ext cx="4381500" cy="3162300"/>
          </a:xfrm>
          <a:prstGeom prst="roundRect">
            <a:avLst>
              <a:gd name="adj" fmla="val 4819"/>
            </a:avLst>
          </a:prstGeom>
          <a:solidFill>
            <a:srgbClr val="FFF1F2"/>
          </a:solidFill>
          <a:ln w="9525">
            <a:solidFill>
              <a:srgbClr val="F4B8BD"/>
            </a:solidFill>
            <a:prstDash val="solid"/>
          </a:ln>
        </p:spPr>
        <p:txBody>
          <a:bodyPr/>
          <a:lstStyle/>
          <a:p>
            <a:endParaRPr lang="en-GB"/>
          </a:p>
        </p:txBody>
      </p:sp>
      <p:sp>
        <p:nvSpPr>
          <p:cNvPr id="5" name="Dikdörtgen 4">
            <a:extLst>
              <a:ext uri="{FF2B5EF4-FFF2-40B4-BE49-F238E27FC236}">
                <a16:creationId xmlns:a16="http://schemas.microsoft.com/office/drawing/2014/main" id="{B31F646E-5362-4283-A38C-60E30B6E9D18}"/>
              </a:ext>
            </a:extLst>
          </p:cNvPr>
          <p:cNvSpPr>
            <a:spLocks noGrp="1"/>
          </p:cNvSpPr>
          <p:nvPr/>
        </p:nvSpPr>
        <p:spPr>
          <a:xfrm>
            <a:off x="952500" y="2219325"/>
            <a:ext cx="2476500" cy="266700"/>
          </a:xfrm>
          <a:prstGeom prst="rect">
            <a:avLst/>
          </a:prstGeom>
          <a:noFill/>
          <a:ln w="0">
            <a:noFill/>
            <a:prstDash val="solid"/>
          </a:ln>
        </p:spPr>
        <p:txBody>
          <a:bodyPr/>
          <a:lstStyle/>
          <a:p>
            <a:pPr>
              <a:defRPr sz="1650" b="1">
                <a:solidFill>
                  <a:srgbClr val="C62828"/>
                </a:solidFill>
              </a:defRPr>
            </a:pPr>
            <a:r>
              <a:rPr sz="1650" b="1">
                <a:solidFill>
                  <a:srgbClr val="C62828"/>
                </a:solidFill>
              </a:rPr>
              <a:t>Current limitations</a:t>
            </a:r>
          </a:p>
        </p:txBody>
      </p:sp>
      <p:sp>
        <p:nvSpPr>
          <p:cNvPr id="6" name="Dikdörtgen 5">
            <a:extLst>
              <a:ext uri="{FF2B5EF4-FFF2-40B4-BE49-F238E27FC236}">
                <a16:creationId xmlns:a16="http://schemas.microsoft.com/office/drawing/2014/main" id="{958CF9FA-EE81-4DD6-A7DC-FA58A05DCE91}"/>
              </a:ext>
            </a:extLst>
          </p:cNvPr>
          <p:cNvSpPr>
            <a:spLocks noGrp="1"/>
          </p:cNvSpPr>
          <p:nvPr/>
        </p:nvSpPr>
        <p:spPr>
          <a:xfrm>
            <a:off x="952500" y="2743200"/>
            <a:ext cx="171450" cy="285750"/>
          </a:xfrm>
          <a:prstGeom prst="rect">
            <a:avLst/>
          </a:prstGeom>
          <a:noFill/>
          <a:ln w="0">
            <a:noFill/>
            <a:prstDash val="solid"/>
          </a:ln>
        </p:spPr>
        <p:txBody>
          <a:bodyPr/>
          <a:lstStyle/>
          <a:p>
            <a:pPr>
              <a:defRPr sz="1425" b="1">
                <a:solidFill>
                  <a:srgbClr val="C62828"/>
                </a:solidFill>
              </a:defRPr>
            </a:pPr>
            <a:r>
              <a:rPr sz="1425" b="1">
                <a:solidFill>
                  <a:srgbClr val="C62828"/>
                </a:solidFill>
              </a:rPr>
              <a:t>•</a:t>
            </a:r>
          </a:p>
        </p:txBody>
      </p:sp>
      <p:sp>
        <p:nvSpPr>
          <p:cNvPr id="7" name="Dikdörtgen 6">
            <a:extLst>
              <a:ext uri="{FF2B5EF4-FFF2-40B4-BE49-F238E27FC236}">
                <a16:creationId xmlns:a16="http://schemas.microsoft.com/office/drawing/2014/main" id="{47BCF141-B0A3-471D-95A9-969B5B4C171E}"/>
              </a:ext>
            </a:extLst>
          </p:cNvPr>
          <p:cNvSpPr>
            <a:spLocks noGrp="1"/>
          </p:cNvSpPr>
          <p:nvPr/>
        </p:nvSpPr>
        <p:spPr>
          <a:xfrm>
            <a:off x="1181100" y="2743200"/>
            <a:ext cx="3295650" cy="342900"/>
          </a:xfrm>
          <a:prstGeom prst="rect">
            <a:avLst/>
          </a:prstGeom>
          <a:noFill/>
          <a:ln w="0">
            <a:noFill/>
            <a:prstDash val="solid"/>
          </a:ln>
        </p:spPr>
        <p:txBody>
          <a:bodyPr/>
          <a:lstStyle/>
          <a:p>
            <a:pPr>
              <a:defRPr sz="1425" b="0">
                <a:solidFill>
                  <a:srgbClr val="172B4D"/>
                </a:solidFill>
              </a:defRPr>
            </a:pPr>
            <a:r>
              <a:rPr sz="1425" b="0">
                <a:solidFill>
                  <a:srgbClr val="172B4D"/>
                </a:solidFill>
              </a:rPr>
              <a:t>only 18 complete OpenROAD labels</a:t>
            </a:r>
          </a:p>
        </p:txBody>
      </p:sp>
      <p:sp>
        <p:nvSpPr>
          <p:cNvPr id="8" name="Dikdörtgen 7">
            <a:extLst>
              <a:ext uri="{FF2B5EF4-FFF2-40B4-BE49-F238E27FC236}">
                <a16:creationId xmlns:a16="http://schemas.microsoft.com/office/drawing/2014/main" id="{DC1E1436-325F-48E3-BC84-69E9053E6396}"/>
              </a:ext>
            </a:extLst>
          </p:cNvPr>
          <p:cNvSpPr>
            <a:spLocks noGrp="1"/>
          </p:cNvSpPr>
          <p:nvPr/>
        </p:nvSpPr>
        <p:spPr>
          <a:xfrm>
            <a:off x="952500" y="3257550"/>
            <a:ext cx="171450" cy="285750"/>
          </a:xfrm>
          <a:prstGeom prst="rect">
            <a:avLst/>
          </a:prstGeom>
          <a:noFill/>
          <a:ln w="0">
            <a:noFill/>
            <a:prstDash val="solid"/>
          </a:ln>
        </p:spPr>
        <p:txBody>
          <a:bodyPr/>
          <a:lstStyle/>
          <a:p>
            <a:pPr>
              <a:defRPr sz="1425" b="1">
                <a:solidFill>
                  <a:srgbClr val="C62828"/>
                </a:solidFill>
              </a:defRPr>
            </a:pPr>
            <a:r>
              <a:rPr sz="1425" b="1">
                <a:solidFill>
                  <a:srgbClr val="C62828"/>
                </a:solidFill>
              </a:rPr>
              <a:t>•</a:t>
            </a:r>
          </a:p>
        </p:txBody>
      </p:sp>
      <p:sp>
        <p:nvSpPr>
          <p:cNvPr id="9" name="Dikdörtgen 8">
            <a:extLst>
              <a:ext uri="{FF2B5EF4-FFF2-40B4-BE49-F238E27FC236}">
                <a16:creationId xmlns:a16="http://schemas.microsoft.com/office/drawing/2014/main" id="{8388838F-162B-4504-B731-C2C936D46997}"/>
              </a:ext>
            </a:extLst>
          </p:cNvPr>
          <p:cNvSpPr>
            <a:spLocks noGrp="1"/>
          </p:cNvSpPr>
          <p:nvPr/>
        </p:nvSpPr>
        <p:spPr>
          <a:xfrm>
            <a:off x="1181100" y="3257550"/>
            <a:ext cx="3295650" cy="342900"/>
          </a:xfrm>
          <a:prstGeom prst="rect">
            <a:avLst/>
          </a:prstGeom>
          <a:noFill/>
          <a:ln w="0">
            <a:noFill/>
            <a:prstDash val="solid"/>
          </a:ln>
        </p:spPr>
        <p:txBody>
          <a:bodyPr/>
          <a:lstStyle/>
          <a:p>
            <a:pPr>
              <a:defRPr sz="1425" b="0">
                <a:solidFill>
                  <a:srgbClr val="172B4D"/>
                </a:solidFill>
              </a:defRPr>
            </a:pPr>
            <a:r>
              <a:rPr sz="1425" b="0">
                <a:solidFill>
                  <a:srgbClr val="172B4D"/>
                </a:solidFill>
              </a:rPr>
              <a:t>one aggressive-clock run and limited power diversity</a:t>
            </a:r>
          </a:p>
        </p:txBody>
      </p:sp>
      <p:sp>
        <p:nvSpPr>
          <p:cNvPr id="10" name="Dikdörtgen 9">
            <a:extLst>
              <a:ext uri="{FF2B5EF4-FFF2-40B4-BE49-F238E27FC236}">
                <a16:creationId xmlns:a16="http://schemas.microsoft.com/office/drawing/2014/main" id="{FDD811EE-E427-485C-8223-6D1DA29E7073}"/>
              </a:ext>
            </a:extLst>
          </p:cNvPr>
          <p:cNvSpPr>
            <a:spLocks noGrp="1"/>
          </p:cNvSpPr>
          <p:nvPr/>
        </p:nvSpPr>
        <p:spPr>
          <a:xfrm>
            <a:off x="952500" y="3771900"/>
            <a:ext cx="171450" cy="285750"/>
          </a:xfrm>
          <a:prstGeom prst="rect">
            <a:avLst/>
          </a:prstGeom>
          <a:noFill/>
          <a:ln w="0">
            <a:noFill/>
            <a:prstDash val="solid"/>
          </a:ln>
        </p:spPr>
        <p:txBody>
          <a:bodyPr/>
          <a:lstStyle/>
          <a:p>
            <a:pPr>
              <a:defRPr sz="1425" b="1">
                <a:solidFill>
                  <a:srgbClr val="C62828"/>
                </a:solidFill>
              </a:defRPr>
            </a:pPr>
            <a:r>
              <a:rPr sz="1425" b="1">
                <a:solidFill>
                  <a:srgbClr val="C62828"/>
                </a:solidFill>
              </a:rPr>
              <a:t>•</a:t>
            </a:r>
          </a:p>
        </p:txBody>
      </p:sp>
      <p:sp>
        <p:nvSpPr>
          <p:cNvPr id="11" name="Dikdörtgen 10">
            <a:extLst>
              <a:ext uri="{FF2B5EF4-FFF2-40B4-BE49-F238E27FC236}">
                <a16:creationId xmlns:a16="http://schemas.microsoft.com/office/drawing/2014/main" id="{066DA6CB-1C18-403C-8DC3-1DD0E2659E56}"/>
              </a:ext>
            </a:extLst>
          </p:cNvPr>
          <p:cNvSpPr>
            <a:spLocks noGrp="1"/>
          </p:cNvSpPr>
          <p:nvPr/>
        </p:nvSpPr>
        <p:spPr>
          <a:xfrm>
            <a:off x="1181100" y="3771900"/>
            <a:ext cx="3295650" cy="342900"/>
          </a:xfrm>
          <a:prstGeom prst="rect">
            <a:avLst/>
          </a:prstGeom>
          <a:noFill/>
          <a:ln w="0">
            <a:noFill/>
            <a:prstDash val="solid"/>
          </a:ln>
        </p:spPr>
        <p:txBody>
          <a:bodyPr/>
          <a:lstStyle/>
          <a:p>
            <a:pPr>
              <a:defRPr sz="1425" b="0">
                <a:solidFill>
                  <a:srgbClr val="172B4D"/>
                </a:solidFill>
              </a:defRPr>
            </a:pPr>
            <a:r>
              <a:rPr sz="1425" b="0">
                <a:solidFill>
                  <a:srgbClr val="172B4D"/>
                </a:solidFill>
              </a:rPr>
              <a:t>no systematically measured wall-clock speed-up</a:t>
            </a:r>
          </a:p>
        </p:txBody>
      </p:sp>
      <p:sp>
        <p:nvSpPr>
          <p:cNvPr id="12" name="Dikdörtgen 11">
            <a:extLst>
              <a:ext uri="{FF2B5EF4-FFF2-40B4-BE49-F238E27FC236}">
                <a16:creationId xmlns:a16="http://schemas.microsoft.com/office/drawing/2014/main" id="{9D79D78E-70F1-4340-8779-B7FE65594D67}"/>
              </a:ext>
            </a:extLst>
          </p:cNvPr>
          <p:cNvSpPr>
            <a:spLocks noGrp="1"/>
          </p:cNvSpPr>
          <p:nvPr/>
        </p:nvSpPr>
        <p:spPr>
          <a:xfrm>
            <a:off x="952500" y="4286250"/>
            <a:ext cx="171450" cy="285750"/>
          </a:xfrm>
          <a:prstGeom prst="rect">
            <a:avLst/>
          </a:prstGeom>
          <a:noFill/>
          <a:ln w="0">
            <a:noFill/>
            <a:prstDash val="solid"/>
          </a:ln>
        </p:spPr>
        <p:txBody>
          <a:bodyPr/>
          <a:lstStyle/>
          <a:p>
            <a:pPr>
              <a:defRPr sz="1425" b="1">
                <a:solidFill>
                  <a:srgbClr val="C62828"/>
                </a:solidFill>
              </a:defRPr>
            </a:pPr>
            <a:r>
              <a:rPr sz="1425" b="1">
                <a:solidFill>
                  <a:srgbClr val="C62828"/>
                </a:solidFill>
              </a:rPr>
              <a:t>•</a:t>
            </a:r>
          </a:p>
        </p:txBody>
      </p:sp>
      <p:sp>
        <p:nvSpPr>
          <p:cNvPr id="13" name="Dikdörtgen 12">
            <a:extLst>
              <a:ext uri="{FF2B5EF4-FFF2-40B4-BE49-F238E27FC236}">
                <a16:creationId xmlns:a16="http://schemas.microsoft.com/office/drawing/2014/main" id="{0D45BF0B-D5F2-483E-92E2-0D54EAA5A89F}"/>
              </a:ext>
            </a:extLst>
          </p:cNvPr>
          <p:cNvSpPr>
            <a:spLocks noGrp="1"/>
          </p:cNvSpPr>
          <p:nvPr/>
        </p:nvSpPr>
        <p:spPr>
          <a:xfrm>
            <a:off x="1181100" y="4286250"/>
            <a:ext cx="3295650" cy="342900"/>
          </a:xfrm>
          <a:prstGeom prst="rect">
            <a:avLst/>
          </a:prstGeom>
          <a:noFill/>
          <a:ln w="0">
            <a:noFill/>
            <a:prstDash val="solid"/>
          </a:ln>
        </p:spPr>
        <p:txBody>
          <a:bodyPr/>
          <a:lstStyle/>
          <a:p>
            <a:pPr>
              <a:defRPr sz="1425" b="0">
                <a:solidFill>
                  <a:srgbClr val="172B4D"/>
                </a:solidFill>
              </a:defRPr>
            </a:pPr>
            <a:r>
              <a:rPr sz="1425" b="0" dirty="0">
                <a:solidFill>
                  <a:srgbClr val="172B4D"/>
                </a:solidFill>
              </a:rPr>
              <a:t>static extraction is lightweight pattern-based parsing</a:t>
            </a:r>
          </a:p>
        </p:txBody>
      </p:sp>
      <p:sp>
        <p:nvSpPr>
          <p:cNvPr id="14" name="Dikdörtgen: Köşeleri Yuvarlatılmış 13">
            <a:extLst>
              <a:ext uri="{FF2B5EF4-FFF2-40B4-BE49-F238E27FC236}">
                <a16:creationId xmlns:a16="http://schemas.microsoft.com/office/drawing/2014/main" id="{507FD1E3-C584-43C9-AB96-1AAF33185E03}"/>
              </a:ext>
            </a:extLst>
          </p:cNvPr>
          <p:cNvSpPr>
            <a:spLocks noGrp="1"/>
          </p:cNvSpPr>
          <p:nvPr/>
        </p:nvSpPr>
        <p:spPr>
          <a:xfrm>
            <a:off x="5715000" y="1952625"/>
            <a:ext cx="5143500" cy="3162300"/>
          </a:xfrm>
          <a:prstGeom prst="roundRect">
            <a:avLst>
              <a:gd name="adj" fmla="val 4819"/>
            </a:avLst>
          </a:prstGeom>
          <a:solidFill>
            <a:srgbClr val="F3F6F8"/>
          </a:solidFill>
          <a:ln w="9525">
            <a:solidFill>
              <a:srgbClr val="D7E0E8"/>
            </a:solidFill>
            <a:prstDash val="solid"/>
          </a:ln>
        </p:spPr>
        <p:txBody>
          <a:bodyPr/>
          <a:lstStyle/>
          <a:p>
            <a:endParaRPr lang="en-GB"/>
          </a:p>
        </p:txBody>
      </p:sp>
      <p:sp>
        <p:nvSpPr>
          <p:cNvPr id="15" name="Dikdörtgen 14">
            <a:extLst>
              <a:ext uri="{FF2B5EF4-FFF2-40B4-BE49-F238E27FC236}">
                <a16:creationId xmlns:a16="http://schemas.microsoft.com/office/drawing/2014/main" id="{B5A03481-18D7-48F2-A3BC-0B3483C879B4}"/>
              </a:ext>
            </a:extLst>
          </p:cNvPr>
          <p:cNvSpPr>
            <a:spLocks noGrp="1"/>
          </p:cNvSpPr>
          <p:nvPr/>
        </p:nvSpPr>
        <p:spPr>
          <a:xfrm>
            <a:off x="6000750" y="2219325"/>
            <a:ext cx="2857500" cy="266700"/>
          </a:xfrm>
          <a:prstGeom prst="rect">
            <a:avLst/>
          </a:prstGeom>
          <a:noFill/>
          <a:ln w="0">
            <a:noFill/>
            <a:prstDash val="solid"/>
          </a:ln>
        </p:spPr>
        <p:txBody>
          <a:bodyPr/>
          <a:lstStyle/>
          <a:p>
            <a:pPr>
              <a:defRPr sz="1650" b="1">
                <a:solidFill>
                  <a:srgbClr val="102A43"/>
                </a:solidFill>
              </a:defRPr>
            </a:pPr>
            <a:r>
              <a:rPr sz="1650" b="1">
                <a:solidFill>
                  <a:srgbClr val="102A43"/>
                </a:solidFill>
              </a:rPr>
              <a:t>Most useful next steps</a:t>
            </a:r>
          </a:p>
        </p:txBody>
      </p:sp>
      <p:sp>
        <p:nvSpPr>
          <p:cNvPr id="16" name="Dikdörtgen 15">
            <a:extLst>
              <a:ext uri="{FF2B5EF4-FFF2-40B4-BE49-F238E27FC236}">
                <a16:creationId xmlns:a16="http://schemas.microsoft.com/office/drawing/2014/main" id="{884E2430-B314-4049-9E48-4D33A8D2DDC2}"/>
              </a:ext>
            </a:extLst>
          </p:cNvPr>
          <p:cNvSpPr>
            <a:spLocks noGrp="1"/>
          </p:cNvSpPr>
          <p:nvPr/>
        </p:nvSpPr>
        <p:spPr>
          <a:xfrm>
            <a:off x="6000750" y="2743200"/>
            <a:ext cx="171450" cy="285750"/>
          </a:xfrm>
          <a:prstGeom prst="rect">
            <a:avLst/>
          </a:prstGeom>
          <a:noFill/>
          <a:ln w="0">
            <a:noFill/>
            <a:prstDash val="solid"/>
          </a:ln>
        </p:spPr>
        <p:txBody>
          <a:bodyPr/>
          <a:lstStyle/>
          <a:p>
            <a:pPr>
              <a:defRPr sz="1425" b="1">
                <a:solidFill>
                  <a:srgbClr val="C62828"/>
                </a:solidFill>
              </a:defRPr>
            </a:pPr>
            <a:r>
              <a:rPr sz="1425" b="1">
                <a:solidFill>
                  <a:srgbClr val="C62828"/>
                </a:solidFill>
              </a:rPr>
              <a:t>•</a:t>
            </a:r>
          </a:p>
        </p:txBody>
      </p:sp>
      <p:sp>
        <p:nvSpPr>
          <p:cNvPr id="17" name="Dikdörtgen 16">
            <a:extLst>
              <a:ext uri="{FF2B5EF4-FFF2-40B4-BE49-F238E27FC236}">
                <a16:creationId xmlns:a16="http://schemas.microsoft.com/office/drawing/2014/main" id="{D4EAEC1A-DA29-4766-8ADC-5D003D161434}"/>
              </a:ext>
            </a:extLst>
          </p:cNvPr>
          <p:cNvSpPr>
            <a:spLocks noGrp="1"/>
          </p:cNvSpPr>
          <p:nvPr/>
        </p:nvSpPr>
        <p:spPr>
          <a:xfrm>
            <a:off x="6229350" y="2743200"/>
            <a:ext cx="4105275" cy="342900"/>
          </a:xfrm>
          <a:prstGeom prst="rect">
            <a:avLst/>
          </a:prstGeom>
          <a:noFill/>
          <a:ln w="0">
            <a:noFill/>
            <a:prstDash val="solid"/>
          </a:ln>
        </p:spPr>
        <p:txBody>
          <a:bodyPr/>
          <a:lstStyle/>
          <a:p>
            <a:pPr>
              <a:defRPr sz="1425" b="0">
                <a:solidFill>
                  <a:srgbClr val="172B4D"/>
                </a:solidFill>
              </a:defRPr>
            </a:pPr>
            <a:r>
              <a:rPr sz="1425" b="0">
                <a:solidFill>
                  <a:srgbClr val="172B4D"/>
                </a:solidFill>
              </a:rPr>
              <a:t>add backend labels systematically across configurations and constraints</a:t>
            </a:r>
          </a:p>
        </p:txBody>
      </p:sp>
      <p:sp>
        <p:nvSpPr>
          <p:cNvPr id="18" name="Dikdörtgen 17">
            <a:extLst>
              <a:ext uri="{FF2B5EF4-FFF2-40B4-BE49-F238E27FC236}">
                <a16:creationId xmlns:a16="http://schemas.microsoft.com/office/drawing/2014/main" id="{A5F4FC45-54DB-4B06-8DCF-0CBD580162A4}"/>
              </a:ext>
            </a:extLst>
          </p:cNvPr>
          <p:cNvSpPr>
            <a:spLocks noGrp="1"/>
          </p:cNvSpPr>
          <p:nvPr/>
        </p:nvSpPr>
        <p:spPr>
          <a:xfrm>
            <a:off x="6000750" y="3257550"/>
            <a:ext cx="171450" cy="285750"/>
          </a:xfrm>
          <a:prstGeom prst="rect">
            <a:avLst/>
          </a:prstGeom>
          <a:noFill/>
          <a:ln w="0">
            <a:noFill/>
            <a:prstDash val="solid"/>
          </a:ln>
        </p:spPr>
        <p:txBody>
          <a:bodyPr/>
          <a:lstStyle/>
          <a:p>
            <a:pPr>
              <a:defRPr sz="1425" b="1">
                <a:solidFill>
                  <a:srgbClr val="C62828"/>
                </a:solidFill>
              </a:defRPr>
            </a:pPr>
            <a:r>
              <a:rPr sz="1425" b="1">
                <a:solidFill>
                  <a:srgbClr val="C62828"/>
                </a:solidFill>
              </a:rPr>
              <a:t>•</a:t>
            </a:r>
          </a:p>
        </p:txBody>
      </p:sp>
      <p:sp>
        <p:nvSpPr>
          <p:cNvPr id="19" name="Dikdörtgen 18">
            <a:extLst>
              <a:ext uri="{FF2B5EF4-FFF2-40B4-BE49-F238E27FC236}">
                <a16:creationId xmlns:a16="http://schemas.microsoft.com/office/drawing/2014/main" id="{D056251A-1462-4469-912B-C6EF73355A60}"/>
              </a:ext>
            </a:extLst>
          </p:cNvPr>
          <p:cNvSpPr>
            <a:spLocks noGrp="1"/>
          </p:cNvSpPr>
          <p:nvPr/>
        </p:nvSpPr>
        <p:spPr>
          <a:xfrm>
            <a:off x="6229350" y="3257550"/>
            <a:ext cx="4105275" cy="342900"/>
          </a:xfrm>
          <a:prstGeom prst="rect">
            <a:avLst/>
          </a:prstGeom>
          <a:noFill/>
          <a:ln w="0">
            <a:noFill/>
            <a:prstDash val="solid"/>
          </a:ln>
        </p:spPr>
        <p:txBody>
          <a:bodyPr/>
          <a:lstStyle/>
          <a:p>
            <a:pPr>
              <a:defRPr sz="1425" b="0">
                <a:solidFill>
                  <a:srgbClr val="172B4D"/>
                </a:solidFill>
              </a:defRPr>
            </a:pPr>
            <a:r>
              <a:rPr sz="1425" b="0">
                <a:solidFill>
                  <a:srgbClr val="172B4D"/>
                </a:solidFill>
              </a:rPr>
              <a:t>select runs with active learning or uncertainty sampling</a:t>
            </a:r>
          </a:p>
        </p:txBody>
      </p:sp>
      <p:sp>
        <p:nvSpPr>
          <p:cNvPr id="20" name="Dikdörtgen 19">
            <a:extLst>
              <a:ext uri="{FF2B5EF4-FFF2-40B4-BE49-F238E27FC236}">
                <a16:creationId xmlns:a16="http://schemas.microsoft.com/office/drawing/2014/main" id="{34A7F640-6F96-47F3-89E3-1C1AA97B00A5}"/>
              </a:ext>
            </a:extLst>
          </p:cNvPr>
          <p:cNvSpPr>
            <a:spLocks noGrp="1"/>
          </p:cNvSpPr>
          <p:nvPr/>
        </p:nvSpPr>
        <p:spPr>
          <a:xfrm>
            <a:off x="6000750" y="3771900"/>
            <a:ext cx="171450" cy="285750"/>
          </a:xfrm>
          <a:prstGeom prst="rect">
            <a:avLst/>
          </a:prstGeom>
          <a:noFill/>
          <a:ln w="0">
            <a:noFill/>
            <a:prstDash val="solid"/>
          </a:ln>
        </p:spPr>
        <p:txBody>
          <a:bodyPr/>
          <a:lstStyle/>
          <a:p>
            <a:pPr>
              <a:defRPr sz="1425" b="1">
                <a:solidFill>
                  <a:srgbClr val="C62828"/>
                </a:solidFill>
              </a:defRPr>
            </a:pPr>
            <a:r>
              <a:rPr sz="1425" b="1">
                <a:solidFill>
                  <a:srgbClr val="C62828"/>
                </a:solidFill>
              </a:rPr>
              <a:t>•</a:t>
            </a:r>
          </a:p>
        </p:txBody>
      </p:sp>
      <p:sp>
        <p:nvSpPr>
          <p:cNvPr id="21" name="Dikdörtgen 20">
            <a:extLst>
              <a:ext uri="{FF2B5EF4-FFF2-40B4-BE49-F238E27FC236}">
                <a16:creationId xmlns:a16="http://schemas.microsoft.com/office/drawing/2014/main" id="{B092A67D-53DE-4D03-92FA-C51583A135BD}"/>
              </a:ext>
            </a:extLst>
          </p:cNvPr>
          <p:cNvSpPr>
            <a:spLocks noGrp="1"/>
          </p:cNvSpPr>
          <p:nvPr/>
        </p:nvSpPr>
        <p:spPr>
          <a:xfrm>
            <a:off x="6229350" y="3771900"/>
            <a:ext cx="4105275" cy="342900"/>
          </a:xfrm>
          <a:prstGeom prst="rect">
            <a:avLst/>
          </a:prstGeom>
          <a:noFill/>
          <a:ln w="0">
            <a:noFill/>
            <a:prstDash val="solid"/>
          </a:ln>
        </p:spPr>
        <p:txBody>
          <a:bodyPr/>
          <a:lstStyle/>
          <a:p>
            <a:pPr>
              <a:defRPr sz="1425" b="0">
                <a:solidFill>
                  <a:srgbClr val="172B4D"/>
                </a:solidFill>
              </a:defRPr>
            </a:pPr>
            <a:r>
              <a:rPr sz="1425" b="0">
                <a:solidFill>
                  <a:srgbClr val="172B4D"/>
                </a:solidFill>
              </a:rPr>
              <a:t>improve static features with AST / LLVM analysis</a:t>
            </a:r>
          </a:p>
        </p:txBody>
      </p:sp>
      <p:sp>
        <p:nvSpPr>
          <p:cNvPr id="22" name="Dikdörtgen 21">
            <a:extLst>
              <a:ext uri="{FF2B5EF4-FFF2-40B4-BE49-F238E27FC236}">
                <a16:creationId xmlns:a16="http://schemas.microsoft.com/office/drawing/2014/main" id="{BEFFC684-23FE-4C90-8155-4892ACC810DC}"/>
              </a:ext>
            </a:extLst>
          </p:cNvPr>
          <p:cNvSpPr>
            <a:spLocks noGrp="1"/>
          </p:cNvSpPr>
          <p:nvPr/>
        </p:nvSpPr>
        <p:spPr>
          <a:xfrm>
            <a:off x="6000750" y="4286250"/>
            <a:ext cx="171450" cy="285750"/>
          </a:xfrm>
          <a:prstGeom prst="rect">
            <a:avLst/>
          </a:prstGeom>
          <a:noFill/>
          <a:ln w="0">
            <a:noFill/>
            <a:prstDash val="solid"/>
          </a:ln>
        </p:spPr>
        <p:txBody>
          <a:bodyPr/>
          <a:lstStyle/>
          <a:p>
            <a:pPr>
              <a:defRPr sz="1425" b="1">
                <a:solidFill>
                  <a:srgbClr val="C62828"/>
                </a:solidFill>
              </a:defRPr>
            </a:pPr>
            <a:r>
              <a:rPr sz="1425" b="1">
                <a:solidFill>
                  <a:srgbClr val="C62828"/>
                </a:solidFill>
              </a:rPr>
              <a:t>•</a:t>
            </a:r>
          </a:p>
        </p:txBody>
      </p:sp>
      <p:sp>
        <p:nvSpPr>
          <p:cNvPr id="23" name="Dikdörtgen 22">
            <a:extLst>
              <a:ext uri="{FF2B5EF4-FFF2-40B4-BE49-F238E27FC236}">
                <a16:creationId xmlns:a16="http://schemas.microsoft.com/office/drawing/2014/main" id="{AC468CBC-7A39-4AC3-87FC-7099F5D75091}"/>
              </a:ext>
            </a:extLst>
          </p:cNvPr>
          <p:cNvSpPr>
            <a:spLocks noGrp="1"/>
          </p:cNvSpPr>
          <p:nvPr/>
        </p:nvSpPr>
        <p:spPr>
          <a:xfrm>
            <a:off x="6229350" y="4286250"/>
            <a:ext cx="4105275" cy="342900"/>
          </a:xfrm>
          <a:prstGeom prst="rect">
            <a:avLst/>
          </a:prstGeom>
          <a:noFill/>
          <a:ln w="0">
            <a:noFill/>
            <a:prstDash val="solid"/>
          </a:ln>
        </p:spPr>
        <p:txBody>
          <a:bodyPr/>
          <a:lstStyle/>
          <a:p>
            <a:pPr>
              <a:defRPr sz="1425" b="0">
                <a:solidFill>
                  <a:srgbClr val="172B4D"/>
                </a:solidFill>
              </a:defRPr>
            </a:pPr>
            <a:r>
              <a:rPr lang="tr-TR" sz="1425" b="0" dirty="0">
                <a:solidFill>
                  <a:srgbClr val="172B4D"/>
                </a:solidFill>
              </a:rPr>
              <a:t>e</a:t>
            </a:r>
            <a:r>
              <a:rPr sz="1425" b="0" dirty="0" err="1">
                <a:solidFill>
                  <a:srgbClr val="172B4D"/>
                </a:solidFill>
              </a:rPr>
              <a:t>nrich</a:t>
            </a:r>
            <a:r>
              <a:rPr sz="1425" b="0" dirty="0">
                <a:solidFill>
                  <a:srgbClr val="172B4D"/>
                </a:solidFill>
              </a:rPr>
              <a:t> </a:t>
            </a:r>
            <a:r>
              <a:rPr sz="1425" b="0" dirty="0" err="1">
                <a:solidFill>
                  <a:srgbClr val="172B4D"/>
                </a:solidFill>
              </a:rPr>
              <a:t>Yosys</a:t>
            </a:r>
            <a:r>
              <a:rPr sz="1425" b="0" dirty="0">
                <a:solidFill>
                  <a:srgbClr val="172B4D"/>
                </a:solidFill>
              </a:rPr>
              <a:t> and pre-routing complexity proxies</a:t>
            </a:r>
          </a:p>
        </p:txBody>
      </p:sp>
      <p:sp>
        <p:nvSpPr>
          <p:cNvPr id="24" name="Dikdörtgen 23">
            <a:extLst>
              <a:ext uri="{FF2B5EF4-FFF2-40B4-BE49-F238E27FC236}">
                <a16:creationId xmlns:a16="http://schemas.microsoft.com/office/drawing/2014/main" id="{C38ABDEE-B043-429A-9E59-2503F3FB2D78}"/>
              </a:ext>
            </a:extLst>
          </p:cNvPr>
          <p:cNvSpPr>
            <a:spLocks noGrp="1"/>
          </p:cNvSpPr>
          <p:nvPr/>
        </p:nvSpPr>
        <p:spPr>
          <a:xfrm>
            <a:off x="666750" y="5543550"/>
            <a:ext cx="10191750" cy="295275"/>
          </a:xfrm>
          <a:prstGeom prst="rect">
            <a:avLst/>
          </a:prstGeom>
          <a:noFill/>
          <a:ln w="0">
            <a:noFill/>
            <a:prstDash val="solid"/>
          </a:ln>
        </p:spPr>
        <p:txBody>
          <a:bodyPr/>
          <a:lstStyle/>
          <a:p>
            <a:pPr>
              <a:defRPr sz="1500" b="1">
                <a:solidFill>
                  <a:srgbClr val="D97706"/>
                </a:solidFill>
              </a:defRPr>
            </a:pPr>
            <a:r>
              <a:rPr sz="1500" b="1">
                <a:solidFill>
                  <a:srgbClr val="D97706"/>
                </a:solidFill>
              </a:rPr>
              <a:t>Power: use transformations, robust models, clock-normalized targets, or separate clock regimes.</a:t>
            </a:r>
          </a:p>
        </p:txBody>
      </p:sp>
      <p:sp>
        <p:nvSpPr>
          <p:cNvPr id="25" name="Dikdörtgen 24">
            <a:extLst>
              <a:ext uri="{FF2B5EF4-FFF2-40B4-BE49-F238E27FC236}">
                <a16:creationId xmlns:a16="http://schemas.microsoft.com/office/drawing/2014/main" id="{3F5AAE1F-12C9-407D-ACA6-45134B75E5C5}"/>
              </a:ext>
            </a:extLst>
          </p:cNvPr>
          <p:cNvSpPr>
            <a:spLocks noGrp="1"/>
          </p:cNvSpPr>
          <p:nvPr/>
        </p:nvSpPr>
        <p:spPr>
          <a:xfrm>
            <a:off x="666750" y="6477000"/>
            <a:ext cx="7143750" cy="171450"/>
          </a:xfrm>
          <a:prstGeom prst="rect">
            <a:avLst/>
          </a:prstGeom>
          <a:noFill/>
          <a:ln w="0">
            <a:noFill/>
            <a:prstDash val="solid"/>
          </a:ln>
        </p:spPr>
        <p:txBody>
          <a:bodyPr/>
          <a:lstStyle/>
          <a:p>
            <a:pPr>
              <a:defRPr sz="825" b="0">
                <a:solidFill>
                  <a:srgbClr val="7A8795"/>
                </a:solidFill>
              </a:defRPr>
            </a:pPr>
            <a:r>
              <a:rPr sz="825" b="0">
                <a:solidFill>
                  <a:srgbClr val="7A8795"/>
                </a:solidFill>
              </a:rPr>
              <a:t>Advanced Computer Architectures | Politecnico di Milano</a:t>
            </a:r>
          </a:p>
        </p:txBody>
      </p:sp>
      <p:sp>
        <p:nvSpPr>
          <p:cNvPr id="26" name="Dikdörtgen 25">
            <a:extLst>
              <a:ext uri="{FF2B5EF4-FFF2-40B4-BE49-F238E27FC236}">
                <a16:creationId xmlns:a16="http://schemas.microsoft.com/office/drawing/2014/main" id="{AE53008B-FB46-40B1-9285-E0F777C2A9E0}"/>
              </a:ext>
            </a:extLst>
          </p:cNvPr>
          <p:cNvSpPr>
            <a:spLocks noGrp="1"/>
          </p:cNvSpPr>
          <p:nvPr/>
        </p:nvSpPr>
        <p:spPr>
          <a:xfrm>
            <a:off x="10782300" y="6477000"/>
            <a:ext cx="742950" cy="171450"/>
          </a:xfrm>
          <a:prstGeom prst="rect">
            <a:avLst/>
          </a:prstGeom>
          <a:noFill/>
          <a:ln w="0">
            <a:noFill/>
            <a:prstDash val="solid"/>
          </a:ln>
        </p:spPr>
        <p:txBody>
          <a:bodyPr/>
          <a:lstStyle/>
          <a:p>
            <a:pPr>
              <a:defRPr sz="825" b="0">
                <a:solidFill>
                  <a:srgbClr val="7A8795"/>
                </a:solidFill>
              </a:defRPr>
            </a:pPr>
            <a:r>
              <a:rPr sz="825" b="0">
                <a:solidFill>
                  <a:srgbClr val="7A8795"/>
                </a:solidFill>
              </a:rPr>
              <a:t>9 / 10</a:t>
            </a:r>
          </a:p>
        </p:txBody>
      </p:sp>
    </p:spTree>
    <p:extLst>
      <p:ext uri="{BB962C8B-B14F-4D97-AF65-F5344CB8AC3E}">
        <p14:creationId xmlns:p14="http://schemas.microsoft.com/office/powerpoint/2010/main" val="1151779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Dikdörtgen 20">
            <a:extLst>
              <a:ext uri="{FF2B5EF4-FFF2-40B4-BE49-F238E27FC236}">
                <a16:creationId xmlns:a16="http://schemas.microsoft.com/office/drawing/2014/main" id="{F25DF10F-B8F4-4576-A82D-3F0FAFAB9A2D}"/>
              </a:ext>
            </a:extLst>
          </p:cNvPr>
          <p:cNvSpPr>
            <a:spLocks noGrp="1"/>
          </p:cNvSpPr>
          <p:nvPr/>
        </p:nvSpPr>
        <p:spPr>
          <a:xfrm>
            <a:off x="666750" y="400050"/>
            <a:ext cx="495300" cy="228600"/>
          </a:xfrm>
          <a:prstGeom prst="rect">
            <a:avLst/>
          </a:prstGeom>
          <a:noFill/>
          <a:ln w="0">
            <a:noFill/>
            <a:prstDash val="solid"/>
          </a:ln>
        </p:spPr>
        <p:txBody>
          <a:bodyPr/>
          <a:lstStyle/>
          <a:p>
            <a:pPr>
              <a:defRPr sz="1050" b="1">
                <a:solidFill>
                  <a:srgbClr val="C62828"/>
                </a:solidFill>
              </a:defRPr>
            </a:pPr>
            <a:r>
              <a:rPr sz="1050" b="1">
                <a:solidFill>
                  <a:srgbClr val="C62828"/>
                </a:solidFill>
              </a:rPr>
              <a:t>10</a:t>
            </a:r>
          </a:p>
        </p:txBody>
      </p:sp>
      <p:sp>
        <p:nvSpPr>
          <p:cNvPr id="2" name="Dikdörtgen 1">
            <a:extLst>
              <a:ext uri="{FF2B5EF4-FFF2-40B4-BE49-F238E27FC236}">
                <a16:creationId xmlns:a16="http://schemas.microsoft.com/office/drawing/2014/main" id="{646AD622-3B61-4B61-908F-BF23C628BECB}"/>
              </a:ext>
            </a:extLst>
          </p:cNvPr>
          <p:cNvSpPr>
            <a:spLocks noGrp="1"/>
          </p:cNvSpPr>
          <p:nvPr/>
        </p:nvSpPr>
        <p:spPr>
          <a:xfrm>
            <a:off x="666750" y="666750"/>
            <a:ext cx="10096500" cy="495300"/>
          </a:xfrm>
          <a:prstGeom prst="rect">
            <a:avLst/>
          </a:prstGeom>
          <a:noFill/>
          <a:ln w="0">
            <a:noFill/>
            <a:prstDash val="solid"/>
          </a:ln>
        </p:spPr>
        <p:txBody>
          <a:bodyPr/>
          <a:lstStyle/>
          <a:p>
            <a:pPr>
              <a:defRPr sz="2550" b="1">
                <a:solidFill>
                  <a:srgbClr val="102A43"/>
                </a:solidFill>
              </a:defRPr>
            </a:pPr>
            <a:r>
              <a:rPr sz="2550" b="1">
                <a:solidFill>
                  <a:srgbClr val="102A43"/>
                </a:solidFill>
              </a:rPr>
              <a:t>Conclusion: useful early signal, measured scope</a:t>
            </a:r>
          </a:p>
        </p:txBody>
      </p:sp>
      <p:sp>
        <p:nvSpPr>
          <p:cNvPr id="3" name="Dikdörtgen 2">
            <a:extLst>
              <a:ext uri="{FF2B5EF4-FFF2-40B4-BE49-F238E27FC236}">
                <a16:creationId xmlns:a16="http://schemas.microsoft.com/office/drawing/2014/main" id="{35BC0A85-B149-4AE6-9F11-67343AAFC88E}"/>
              </a:ext>
            </a:extLst>
          </p:cNvPr>
          <p:cNvSpPr>
            <a:spLocks noGrp="1"/>
          </p:cNvSpPr>
          <p:nvPr/>
        </p:nvSpPr>
        <p:spPr>
          <a:xfrm>
            <a:off x="666750" y="1543050"/>
            <a:ext cx="10858500" cy="19050"/>
          </a:xfrm>
          <a:prstGeom prst="rect">
            <a:avLst/>
          </a:prstGeom>
          <a:solidFill>
            <a:srgbClr val="C62828"/>
          </a:solidFill>
          <a:ln w="0">
            <a:noFill/>
            <a:prstDash val="solid"/>
          </a:ln>
        </p:spPr>
        <p:txBody>
          <a:bodyPr/>
          <a:lstStyle/>
          <a:p>
            <a:endParaRPr lang="en-GB"/>
          </a:p>
        </p:txBody>
      </p:sp>
      <p:sp>
        <p:nvSpPr>
          <p:cNvPr id="4" name="Dikdörtgen 3">
            <a:extLst>
              <a:ext uri="{FF2B5EF4-FFF2-40B4-BE49-F238E27FC236}">
                <a16:creationId xmlns:a16="http://schemas.microsoft.com/office/drawing/2014/main" id="{E22409A6-6B07-450E-B902-659FF94762F1}"/>
              </a:ext>
            </a:extLst>
          </p:cNvPr>
          <p:cNvSpPr>
            <a:spLocks noGrp="1"/>
          </p:cNvSpPr>
          <p:nvPr/>
        </p:nvSpPr>
        <p:spPr>
          <a:xfrm>
            <a:off x="666750" y="1952625"/>
            <a:ext cx="10096500" cy="361950"/>
          </a:xfrm>
          <a:prstGeom prst="rect">
            <a:avLst/>
          </a:prstGeom>
          <a:noFill/>
          <a:ln w="0">
            <a:noFill/>
            <a:prstDash val="solid"/>
          </a:ln>
        </p:spPr>
        <p:txBody>
          <a:bodyPr/>
          <a:lstStyle/>
          <a:p>
            <a:pPr>
              <a:defRPr sz="1950" b="1">
                <a:solidFill>
                  <a:srgbClr val="102A43"/>
                </a:solidFill>
              </a:defRPr>
            </a:pPr>
            <a:r>
              <a:rPr sz="1950" b="1">
                <a:solidFill>
                  <a:srgbClr val="102A43"/>
                </a:solidFill>
              </a:rPr>
              <a:t>A complete, reproducible source-to-backend modeling pipeline was implemented.</a:t>
            </a:r>
          </a:p>
        </p:txBody>
      </p:sp>
      <p:sp>
        <p:nvSpPr>
          <p:cNvPr id="5" name="Dikdörtgen: Köşeleri Yuvarlatılmış 4">
            <a:extLst>
              <a:ext uri="{FF2B5EF4-FFF2-40B4-BE49-F238E27FC236}">
                <a16:creationId xmlns:a16="http://schemas.microsoft.com/office/drawing/2014/main" id="{C1D77BEA-A071-43E5-B7CB-F78668EAE250}"/>
              </a:ext>
            </a:extLst>
          </p:cNvPr>
          <p:cNvSpPr>
            <a:spLocks noGrp="1"/>
          </p:cNvSpPr>
          <p:nvPr/>
        </p:nvSpPr>
        <p:spPr>
          <a:xfrm>
            <a:off x="666750" y="2857500"/>
            <a:ext cx="3143250" cy="1714500"/>
          </a:xfrm>
          <a:prstGeom prst="roundRect">
            <a:avLst>
              <a:gd name="adj" fmla="val 8889"/>
            </a:avLst>
          </a:prstGeom>
          <a:solidFill>
            <a:srgbClr val="F3F6F8"/>
          </a:solidFill>
          <a:ln w="9525">
            <a:solidFill>
              <a:srgbClr val="D7E0E8"/>
            </a:solidFill>
            <a:prstDash val="solid"/>
          </a:ln>
        </p:spPr>
        <p:txBody>
          <a:bodyPr/>
          <a:lstStyle/>
          <a:p>
            <a:endParaRPr lang="en-GB"/>
          </a:p>
        </p:txBody>
      </p:sp>
      <p:sp>
        <p:nvSpPr>
          <p:cNvPr id="6" name="Dikdörtgen 5">
            <a:extLst>
              <a:ext uri="{FF2B5EF4-FFF2-40B4-BE49-F238E27FC236}">
                <a16:creationId xmlns:a16="http://schemas.microsoft.com/office/drawing/2014/main" id="{51098D3C-63AC-4DE4-BA5D-65B27714DDC7}"/>
              </a:ext>
            </a:extLst>
          </p:cNvPr>
          <p:cNvSpPr>
            <a:spLocks noGrp="1"/>
          </p:cNvSpPr>
          <p:nvPr/>
        </p:nvSpPr>
        <p:spPr>
          <a:xfrm>
            <a:off x="904875" y="3095625"/>
            <a:ext cx="333375" cy="333375"/>
          </a:xfrm>
          <a:prstGeom prst="rect">
            <a:avLst/>
          </a:prstGeom>
          <a:noFill/>
          <a:ln w="0">
            <a:noFill/>
            <a:prstDash val="solid"/>
          </a:ln>
        </p:spPr>
        <p:txBody>
          <a:bodyPr/>
          <a:lstStyle/>
          <a:p>
            <a:pPr>
              <a:defRPr sz="2250" b="1">
                <a:solidFill>
                  <a:srgbClr val="C62828"/>
                </a:solidFill>
              </a:defRPr>
            </a:pPr>
            <a:r>
              <a:rPr sz="2250" b="1">
                <a:solidFill>
                  <a:srgbClr val="C62828"/>
                </a:solidFill>
              </a:rPr>
              <a:t>1</a:t>
            </a:r>
          </a:p>
        </p:txBody>
      </p:sp>
      <p:sp>
        <p:nvSpPr>
          <p:cNvPr id="7" name="Dikdörtgen 6">
            <a:extLst>
              <a:ext uri="{FF2B5EF4-FFF2-40B4-BE49-F238E27FC236}">
                <a16:creationId xmlns:a16="http://schemas.microsoft.com/office/drawing/2014/main" id="{AA4A0375-558D-4DEA-922F-D67429BE5A72}"/>
              </a:ext>
            </a:extLst>
          </p:cNvPr>
          <p:cNvSpPr>
            <a:spLocks noGrp="1"/>
          </p:cNvSpPr>
          <p:nvPr/>
        </p:nvSpPr>
        <p:spPr>
          <a:xfrm>
            <a:off x="1381125" y="3105150"/>
            <a:ext cx="2095500" cy="285750"/>
          </a:xfrm>
          <a:prstGeom prst="rect">
            <a:avLst/>
          </a:prstGeom>
          <a:noFill/>
          <a:ln w="0">
            <a:noFill/>
            <a:prstDash val="solid"/>
          </a:ln>
        </p:spPr>
        <p:txBody>
          <a:bodyPr/>
          <a:lstStyle/>
          <a:p>
            <a:pPr>
              <a:defRPr sz="1575" b="1">
                <a:solidFill>
                  <a:srgbClr val="102A43"/>
                </a:solidFill>
              </a:defRPr>
            </a:pPr>
            <a:r>
              <a:rPr sz="1575" b="1">
                <a:solidFill>
                  <a:srgbClr val="102A43"/>
                </a:solidFill>
              </a:rPr>
              <a:t>Useful early signal</a:t>
            </a:r>
          </a:p>
        </p:txBody>
      </p:sp>
      <p:sp>
        <p:nvSpPr>
          <p:cNvPr id="8" name="Dikdörtgen 7">
            <a:extLst>
              <a:ext uri="{FF2B5EF4-FFF2-40B4-BE49-F238E27FC236}">
                <a16:creationId xmlns:a16="http://schemas.microsoft.com/office/drawing/2014/main" id="{11269B8F-72B7-4EDC-9523-CC967DB2CCFB}"/>
              </a:ext>
            </a:extLst>
          </p:cNvPr>
          <p:cNvSpPr>
            <a:spLocks noGrp="1"/>
          </p:cNvSpPr>
          <p:nvPr/>
        </p:nvSpPr>
        <p:spPr>
          <a:xfrm>
            <a:off x="933450" y="3648075"/>
            <a:ext cx="2571750" cy="571500"/>
          </a:xfrm>
          <a:prstGeom prst="rect">
            <a:avLst/>
          </a:prstGeom>
          <a:noFill/>
          <a:ln w="0">
            <a:noFill/>
            <a:prstDash val="solid"/>
          </a:ln>
        </p:spPr>
        <p:txBody>
          <a:bodyPr/>
          <a:lstStyle/>
          <a:p>
            <a:pPr>
              <a:defRPr sz="1425" b="0">
                <a:solidFill>
                  <a:srgbClr val="172B4D"/>
                </a:solidFill>
              </a:defRPr>
            </a:pPr>
            <a:r>
              <a:rPr sz="1425" b="0">
                <a:solidFill>
                  <a:srgbClr val="172B4D"/>
                </a:solidFill>
              </a:rPr>
              <a:t>Area: 15.34% NMAE</a:t>
            </a:r>
          </a:p>
          <a:p>
            <a:pPr>
              <a:defRPr sz="1425" b="0">
                <a:solidFill>
                  <a:srgbClr val="172B4D"/>
                </a:solidFill>
              </a:defRPr>
            </a:pPr>
            <a:r>
              <a:rPr sz="1425" b="0">
                <a:solidFill>
                  <a:srgbClr val="172B4D"/>
                </a:solidFill>
              </a:rPr>
              <a:t>Delay: 18.71% NMAE</a:t>
            </a:r>
          </a:p>
        </p:txBody>
      </p:sp>
      <p:sp>
        <p:nvSpPr>
          <p:cNvPr id="9" name="Dikdörtgen: Köşeleri Yuvarlatılmış 8">
            <a:extLst>
              <a:ext uri="{FF2B5EF4-FFF2-40B4-BE49-F238E27FC236}">
                <a16:creationId xmlns:a16="http://schemas.microsoft.com/office/drawing/2014/main" id="{76557A15-FC49-40C2-A3F1-975B325502E2}"/>
              </a:ext>
            </a:extLst>
          </p:cNvPr>
          <p:cNvSpPr>
            <a:spLocks noGrp="1"/>
          </p:cNvSpPr>
          <p:nvPr/>
        </p:nvSpPr>
        <p:spPr>
          <a:xfrm>
            <a:off x="4191000" y="2857500"/>
            <a:ext cx="3143250" cy="1714500"/>
          </a:xfrm>
          <a:prstGeom prst="roundRect">
            <a:avLst>
              <a:gd name="adj" fmla="val 8889"/>
            </a:avLst>
          </a:prstGeom>
          <a:solidFill>
            <a:srgbClr val="F3F6F8"/>
          </a:solidFill>
          <a:ln w="9525">
            <a:solidFill>
              <a:srgbClr val="D7E0E8"/>
            </a:solidFill>
            <a:prstDash val="solid"/>
          </a:ln>
        </p:spPr>
        <p:txBody>
          <a:bodyPr/>
          <a:lstStyle/>
          <a:p>
            <a:endParaRPr lang="en-GB"/>
          </a:p>
        </p:txBody>
      </p:sp>
      <p:sp>
        <p:nvSpPr>
          <p:cNvPr id="10" name="Dikdörtgen 9">
            <a:extLst>
              <a:ext uri="{FF2B5EF4-FFF2-40B4-BE49-F238E27FC236}">
                <a16:creationId xmlns:a16="http://schemas.microsoft.com/office/drawing/2014/main" id="{92AE237D-049D-4A02-88D6-F26BE3A469F9}"/>
              </a:ext>
            </a:extLst>
          </p:cNvPr>
          <p:cNvSpPr>
            <a:spLocks noGrp="1"/>
          </p:cNvSpPr>
          <p:nvPr/>
        </p:nvSpPr>
        <p:spPr>
          <a:xfrm>
            <a:off x="4429125" y="3095625"/>
            <a:ext cx="333375" cy="333375"/>
          </a:xfrm>
          <a:prstGeom prst="rect">
            <a:avLst/>
          </a:prstGeom>
          <a:noFill/>
          <a:ln w="0">
            <a:noFill/>
            <a:prstDash val="solid"/>
          </a:ln>
        </p:spPr>
        <p:txBody>
          <a:bodyPr/>
          <a:lstStyle/>
          <a:p>
            <a:pPr>
              <a:defRPr sz="2250" b="1">
                <a:solidFill>
                  <a:srgbClr val="C62828"/>
                </a:solidFill>
              </a:defRPr>
            </a:pPr>
            <a:r>
              <a:rPr sz="2250" b="1">
                <a:solidFill>
                  <a:srgbClr val="C62828"/>
                </a:solidFill>
              </a:rPr>
              <a:t>2</a:t>
            </a:r>
          </a:p>
        </p:txBody>
      </p:sp>
      <p:sp>
        <p:nvSpPr>
          <p:cNvPr id="11" name="Dikdörtgen 10">
            <a:extLst>
              <a:ext uri="{FF2B5EF4-FFF2-40B4-BE49-F238E27FC236}">
                <a16:creationId xmlns:a16="http://schemas.microsoft.com/office/drawing/2014/main" id="{AF8CA5DF-4559-4365-95B5-D95C43F46A2D}"/>
              </a:ext>
            </a:extLst>
          </p:cNvPr>
          <p:cNvSpPr>
            <a:spLocks noGrp="1"/>
          </p:cNvSpPr>
          <p:nvPr/>
        </p:nvSpPr>
        <p:spPr>
          <a:xfrm>
            <a:off x="4905375" y="3105150"/>
            <a:ext cx="2095500" cy="285750"/>
          </a:xfrm>
          <a:prstGeom prst="rect">
            <a:avLst/>
          </a:prstGeom>
          <a:noFill/>
          <a:ln w="0">
            <a:noFill/>
            <a:prstDash val="solid"/>
          </a:ln>
        </p:spPr>
        <p:txBody>
          <a:bodyPr/>
          <a:lstStyle/>
          <a:p>
            <a:pPr>
              <a:defRPr sz="1575" b="1">
                <a:solidFill>
                  <a:srgbClr val="102A43"/>
                </a:solidFill>
              </a:defRPr>
            </a:pPr>
            <a:r>
              <a:rPr sz="1575" b="1">
                <a:solidFill>
                  <a:srgbClr val="102A43"/>
                </a:solidFill>
              </a:rPr>
              <a:t>Realistic evaluation</a:t>
            </a:r>
          </a:p>
        </p:txBody>
      </p:sp>
      <p:sp>
        <p:nvSpPr>
          <p:cNvPr id="12" name="Dikdörtgen 11">
            <a:extLst>
              <a:ext uri="{FF2B5EF4-FFF2-40B4-BE49-F238E27FC236}">
                <a16:creationId xmlns:a16="http://schemas.microsoft.com/office/drawing/2014/main" id="{1F1BA034-3910-4850-924F-0E96D57BC45E}"/>
              </a:ext>
            </a:extLst>
          </p:cNvPr>
          <p:cNvSpPr>
            <a:spLocks noGrp="1"/>
          </p:cNvSpPr>
          <p:nvPr/>
        </p:nvSpPr>
        <p:spPr>
          <a:xfrm>
            <a:off x="4457700" y="3648075"/>
            <a:ext cx="2571750" cy="571500"/>
          </a:xfrm>
          <a:prstGeom prst="rect">
            <a:avLst/>
          </a:prstGeom>
          <a:noFill/>
          <a:ln w="0">
            <a:noFill/>
            <a:prstDash val="solid"/>
          </a:ln>
        </p:spPr>
        <p:txBody>
          <a:bodyPr/>
          <a:lstStyle/>
          <a:p>
            <a:pPr>
              <a:defRPr sz="1425" b="0">
                <a:solidFill>
                  <a:srgbClr val="172B4D"/>
                </a:solidFill>
              </a:defRPr>
            </a:pPr>
            <a:r>
              <a:rPr sz="1425" b="0">
                <a:solidFill>
                  <a:srgbClr val="172B4D"/>
                </a:solidFill>
              </a:rPr>
              <a:t>GroupKFold holds out</a:t>
            </a:r>
          </a:p>
          <a:p>
            <a:pPr>
              <a:defRPr sz="1425" b="0">
                <a:solidFill>
                  <a:srgbClr val="172B4D"/>
                </a:solidFill>
              </a:defRPr>
            </a:pPr>
            <a:r>
              <a:rPr sz="1425" b="0">
                <a:solidFill>
                  <a:srgbClr val="172B4D"/>
                </a:solidFill>
              </a:rPr>
              <a:t>complete benchmarks</a:t>
            </a:r>
          </a:p>
        </p:txBody>
      </p:sp>
      <p:sp>
        <p:nvSpPr>
          <p:cNvPr id="13" name="Dikdörtgen: Köşeleri Yuvarlatılmış 12">
            <a:extLst>
              <a:ext uri="{FF2B5EF4-FFF2-40B4-BE49-F238E27FC236}">
                <a16:creationId xmlns:a16="http://schemas.microsoft.com/office/drawing/2014/main" id="{500C6445-861A-448B-B2EE-4F1887B1F956}"/>
              </a:ext>
            </a:extLst>
          </p:cNvPr>
          <p:cNvSpPr>
            <a:spLocks noGrp="1"/>
          </p:cNvSpPr>
          <p:nvPr/>
        </p:nvSpPr>
        <p:spPr>
          <a:xfrm>
            <a:off x="7715250" y="2857500"/>
            <a:ext cx="3143250" cy="1714500"/>
          </a:xfrm>
          <a:prstGeom prst="roundRect">
            <a:avLst>
              <a:gd name="adj" fmla="val 8889"/>
            </a:avLst>
          </a:prstGeom>
          <a:solidFill>
            <a:srgbClr val="F3F6F8"/>
          </a:solidFill>
          <a:ln w="9525">
            <a:solidFill>
              <a:srgbClr val="D7E0E8"/>
            </a:solidFill>
            <a:prstDash val="solid"/>
          </a:ln>
        </p:spPr>
        <p:txBody>
          <a:bodyPr/>
          <a:lstStyle/>
          <a:p>
            <a:endParaRPr lang="en-GB"/>
          </a:p>
        </p:txBody>
      </p:sp>
      <p:sp>
        <p:nvSpPr>
          <p:cNvPr id="14" name="Dikdörtgen 13">
            <a:extLst>
              <a:ext uri="{FF2B5EF4-FFF2-40B4-BE49-F238E27FC236}">
                <a16:creationId xmlns:a16="http://schemas.microsoft.com/office/drawing/2014/main" id="{D425A868-448F-4D45-B5F6-2CE26690E46B}"/>
              </a:ext>
            </a:extLst>
          </p:cNvPr>
          <p:cNvSpPr>
            <a:spLocks noGrp="1"/>
          </p:cNvSpPr>
          <p:nvPr/>
        </p:nvSpPr>
        <p:spPr>
          <a:xfrm>
            <a:off x="7953375" y="3095625"/>
            <a:ext cx="333375" cy="333375"/>
          </a:xfrm>
          <a:prstGeom prst="rect">
            <a:avLst/>
          </a:prstGeom>
          <a:noFill/>
          <a:ln w="0">
            <a:noFill/>
            <a:prstDash val="solid"/>
          </a:ln>
        </p:spPr>
        <p:txBody>
          <a:bodyPr/>
          <a:lstStyle/>
          <a:p>
            <a:pPr>
              <a:defRPr sz="2250" b="1">
                <a:solidFill>
                  <a:srgbClr val="C62828"/>
                </a:solidFill>
              </a:defRPr>
            </a:pPr>
            <a:r>
              <a:rPr sz="2250" b="1">
                <a:solidFill>
                  <a:srgbClr val="C62828"/>
                </a:solidFill>
              </a:rPr>
              <a:t>3</a:t>
            </a:r>
          </a:p>
        </p:txBody>
      </p:sp>
      <p:sp>
        <p:nvSpPr>
          <p:cNvPr id="15" name="Dikdörtgen 14">
            <a:extLst>
              <a:ext uri="{FF2B5EF4-FFF2-40B4-BE49-F238E27FC236}">
                <a16:creationId xmlns:a16="http://schemas.microsoft.com/office/drawing/2014/main" id="{A29ECFF8-0859-42C0-AABA-658ADFA9778F}"/>
              </a:ext>
            </a:extLst>
          </p:cNvPr>
          <p:cNvSpPr>
            <a:spLocks noGrp="1"/>
          </p:cNvSpPr>
          <p:nvPr/>
        </p:nvSpPr>
        <p:spPr>
          <a:xfrm>
            <a:off x="8429625" y="3105150"/>
            <a:ext cx="2095500" cy="285750"/>
          </a:xfrm>
          <a:prstGeom prst="rect">
            <a:avLst/>
          </a:prstGeom>
          <a:noFill/>
          <a:ln w="0">
            <a:noFill/>
            <a:prstDash val="solid"/>
          </a:ln>
        </p:spPr>
        <p:txBody>
          <a:bodyPr/>
          <a:lstStyle/>
          <a:p>
            <a:pPr>
              <a:defRPr sz="1575" b="1">
                <a:solidFill>
                  <a:srgbClr val="102A43"/>
                </a:solidFill>
              </a:defRPr>
            </a:pPr>
            <a:r>
              <a:rPr sz="1575" b="1">
                <a:solidFill>
                  <a:srgbClr val="102A43"/>
                </a:solidFill>
              </a:rPr>
              <a:t>Appropriate scope</a:t>
            </a:r>
          </a:p>
        </p:txBody>
      </p:sp>
      <p:sp>
        <p:nvSpPr>
          <p:cNvPr id="16" name="Dikdörtgen 15">
            <a:extLst>
              <a:ext uri="{FF2B5EF4-FFF2-40B4-BE49-F238E27FC236}">
                <a16:creationId xmlns:a16="http://schemas.microsoft.com/office/drawing/2014/main" id="{A64B18EF-691F-4777-9DAD-7007F6886C9E}"/>
              </a:ext>
            </a:extLst>
          </p:cNvPr>
          <p:cNvSpPr>
            <a:spLocks noGrp="1"/>
          </p:cNvSpPr>
          <p:nvPr/>
        </p:nvSpPr>
        <p:spPr>
          <a:xfrm>
            <a:off x="7981950" y="3648075"/>
            <a:ext cx="2571750" cy="571500"/>
          </a:xfrm>
          <a:prstGeom prst="rect">
            <a:avLst/>
          </a:prstGeom>
          <a:noFill/>
          <a:ln w="0">
            <a:noFill/>
            <a:prstDash val="solid"/>
          </a:ln>
        </p:spPr>
        <p:txBody>
          <a:bodyPr/>
          <a:lstStyle/>
          <a:p>
            <a:pPr>
              <a:defRPr sz="1425" b="0">
                <a:solidFill>
                  <a:srgbClr val="172B4D"/>
                </a:solidFill>
              </a:defRPr>
            </a:pPr>
            <a:r>
              <a:rPr sz="1425" b="0">
                <a:solidFill>
                  <a:srgbClr val="172B4D"/>
                </a:solidFill>
              </a:rPr>
              <a:t>Feasibility study;</a:t>
            </a:r>
          </a:p>
          <a:p>
            <a:pPr>
              <a:defRPr sz="1425" b="0">
                <a:solidFill>
                  <a:srgbClr val="172B4D"/>
                </a:solidFill>
              </a:defRPr>
            </a:pPr>
            <a:r>
              <a:rPr sz="1425" b="0">
                <a:solidFill>
                  <a:srgbClr val="172B4D"/>
                </a:solidFill>
              </a:rPr>
              <a:t>not a replacement for OpenROAD</a:t>
            </a:r>
          </a:p>
        </p:txBody>
      </p:sp>
      <p:sp>
        <p:nvSpPr>
          <p:cNvPr id="17" name="Dikdörtgen: Köşeleri Yuvarlatılmış 16">
            <a:extLst>
              <a:ext uri="{FF2B5EF4-FFF2-40B4-BE49-F238E27FC236}">
                <a16:creationId xmlns:a16="http://schemas.microsoft.com/office/drawing/2014/main" id="{04A0DDC5-7F8E-4A89-8398-F05C88B204CF}"/>
              </a:ext>
            </a:extLst>
          </p:cNvPr>
          <p:cNvSpPr>
            <a:spLocks noGrp="1"/>
          </p:cNvSpPr>
          <p:nvPr/>
        </p:nvSpPr>
        <p:spPr>
          <a:xfrm>
            <a:off x="666750" y="5286375"/>
            <a:ext cx="10191750" cy="666750"/>
          </a:xfrm>
          <a:prstGeom prst="roundRect">
            <a:avLst>
              <a:gd name="adj" fmla="val 22857"/>
            </a:avLst>
          </a:prstGeom>
          <a:solidFill>
            <a:srgbClr val="102A43"/>
          </a:solidFill>
          <a:ln w="9525">
            <a:solidFill>
              <a:srgbClr val="102A43"/>
            </a:solidFill>
            <a:prstDash val="solid"/>
          </a:ln>
        </p:spPr>
        <p:txBody>
          <a:bodyPr/>
          <a:lstStyle/>
          <a:p>
            <a:endParaRPr lang="en-GB"/>
          </a:p>
        </p:txBody>
      </p:sp>
      <p:sp>
        <p:nvSpPr>
          <p:cNvPr id="18" name="Dikdörtgen 17">
            <a:extLst>
              <a:ext uri="{FF2B5EF4-FFF2-40B4-BE49-F238E27FC236}">
                <a16:creationId xmlns:a16="http://schemas.microsoft.com/office/drawing/2014/main" id="{47A895B4-B2AE-48EC-90B7-B494688764B6}"/>
              </a:ext>
            </a:extLst>
          </p:cNvPr>
          <p:cNvSpPr>
            <a:spLocks noGrp="1"/>
          </p:cNvSpPr>
          <p:nvPr/>
        </p:nvSpPr>
        <p:spPr>
          <a:xfrm>
            <a:off x="904875" y="5486400"/>
            <a:ext cx="9715500" cy="266700"/>
          </a:xfrm>
          <a:prstGeom prst="rect">
            <a:avLst/>
          </a:prstGeom>
          <a:noFill/>
          <a:ln w="0">
            <a:noFill/>
            <a:prstDash val="solid"/>
          </a:ln>
        </p:spPr>
        <p:txBody>
          <a:bodyPr/>
          <a:lstStyle/>
          <a:p>
            <a:pPr>
              <a:defRPr sz="1500" b="1">
                <a:solidFill>
                  <a:srgbClr val="FFFFFF"/>
                </a:solidFill>
              </a:defRPr>
            </a:pPr>
            <a:r>
              <a:rPr sz="1500" b="1">
                <a:solidFill>
                  <a:srgbClr val="FFFFFF"/>
                </a:solidFill>
              </a:rPr>
              <a:t>Main next step: more diverse OpenROAD labels for robustness.</a:t>
            </a:r>
          </a:p>
        </p:txBody>
      </p:sp>
      <p:sp>
        <p:nvSpPr>
          <p:cNvPr id="19" name="Dikdörtgen 18">
            <a:extLst>
              <a:ext uri="{FF2B5EF4-FFF2-40B4-BE49-F238E27FC236}">
                <a16:creationId xmlns:a16="http://schemas.microsoft.com/office/drawing/2014/main" id="{B743E4E5-6590-4FCF-AF54-0B70964E5EB5}"/>
              </a:ext>
            </a:extLst>
          </p:cNvPr>
          <p:cNvSpPr>
            <a:spLocks noGrp="1"/>
          </p:cNvSpPr>
          <p:nvPr/>
        </p:nvSpPr>
        <p:spPr>
          <a:xfrm>
            <a:off x="666750" y="6477000"/>
            <a:ext cx="7143750" cy="171450"/>
          </a:xfrm>
          <a:prstGeom prst="rect">
            <a:avLst/>
          </a:prstGeom>
          <a:noFill/>
          <a:ln w="0">
            <a:noFill/>
            <a:prstDash val="solid"/>
          </a:ln>
        </p:spPr>
        <p:txBody>
          <a:bodyPr/>
          <a:lstStyle/>
          <a:p>
            <a:pPr>
              <a:defRPr sz="825" b="0">
                <a:solidFill>
                  <a:srgbClr val="7A8795"/>
                </a:solidFill>
              </a:defRPr>
            </a:pPr>
            <a:r>
              <a:rPr sz="825" b="0">
                <a:solidFill>
                  <a:srgbClr val="7A8795"/>
                </a:solidFill>
              </a:rPr>
              <a:t>Advanced Computer Architectures | Politecnico di Milano</a:t>
            </a:r>
          </a:p>
        </p:txBody>
      </p:sp>
      <p:sp>
        <p:nvSpPr>
          <p:cNvPr id="20" name="Dikdörtgen 19">
            <a:extLst>
              <a:ext uri="{FF2B5EF4-FFF2-40B4-BE49-F238E27FC236}">
                <a16:creationId xmlns:a16="http://schemas.microsoft.com/office/drawing/2014/main" id="{CA5F7CB0-1FAC-4E09-9F48-7DB9C02FBA92}"/>
              </a:ext>
            </a:extLst>
          </p:cNvPr>
          <p:cNvSpPr>
            <a:spLocks noGrp="1"/>
          </p:cNvSpPr>
          <p:nvPr/>
        </p:nvSpPr>
        <p:spPr>
          <a:xfrm>
            <a:off x="10782300" y="6477000"/>
            <a:ext cx="742950" cy="171450"/>
          </a:xfrm>
          <a:prstGeom prst="rect">
            <a:avLst/>
          </a:prstGeom>
          <a:noFill/>
          <a:ln w="0">
            <a:noFill/>
            <a:prstDash val="solid"/>
          </a:ln>
        </p:spPr>
        <p:txBody>
          <a:bodyPr/>
          <a:lstStyle/>
          <a:p>
            <a:pPr>
              <a:defRPr sz="825" b="0">
                <a:solidFill>
                  <a:srgbClr val="7A8795"/>
                </a:solidFill>
              </a:defRPr>
            </a:pPr>
            <a:r>
              <a:rPr sz="825" b="0">
                <a:solidFill>
                  <a:srgbClr val="7A8795"/>
                </a:solidFill>
              </a:rPr>
              <a:t>10 / 10</a:t>
            </a:r>
          </a:p>
        </p:txBody>
      </p:sp>
    </p:spTree>
    <p:extLst>
      <p:ext uri="{BB962C8B-B14F-4D97-AF65-F5344CB8AC3E}">
        <p14:creationId xmlns:p14="http://schemas.microsoft.com/office/powerpoint/2010/main" val="166394749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1596</Words>
  <Application>Microsoft Office PowerPoint</Application>
  <DocSecurity>0</DocSecurity>
  <PresentationFormat>Geniş ekran</PresentationFormat>
  <Paragraphs>204</Paragraphs>
  <Slides>10</Slides>
  <Notes>10</Notes>
  <HiddenSlides>0</HiddenSlides>
  <MMClips>0</MMClips>
  <ScaleCrop>false</ScaleCrop>
  <HeadingPairs>
    <vt:vector size="6" baseType="variant">
      <vt:variant>
        <vt:lpstr>Kullanılan Yazı Tipleri</vt:lpstr>
      </vt:variant>
      <vt:variant>
        <vt:i4>1</vt:i4>
      </vt:variant>
      <vt:variant>
        <vt:lpstr>Tema</vt:lpstr>
      </vt:variant>
      <vt:variant>
        <vt:i4>1</vt:i4>
      </vt:variant>
      <vt:variant>
        <vt:lpstr>Slayt Başlıkları</vt:lpstr>
      </vt:variant>
      <vt:variant>
        <vt:i4>10</vt:i4>
      </vt:variant>
    </vt:vector>
  </HeadingPairs>
  <TitlesOfParts>
    <vt:vector size="12" baseType="lpstr">
      <vt:lpstr>Calibri</vt:lpstr>
      <vt:lpstr>ChatGPT</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Berk Yonder</cp:lastModifiedBy>
  <cp:revision>1</cp:revision>
  <dcterms:created xsi:type="dcterms:W3CDTF">2026-07-17T15:35:06Z</dcterms:created>
  <dcterms:modified xsi:type="dcterms:W3CDTF">2026-07-17T21:18:08Z</dcterms:modified>
</cp:coreProperties>
</file>